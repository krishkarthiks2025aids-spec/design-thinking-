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12F996-FBB7-EE03-F6B7-F5E6DE01D0E3}" v="1" dt="2026-07-13T09:24:26.920"/>
    <p1510:client id="{D8541769-DCD8-1B36-198D-BEAAF4F61171}" v="1" dt="2026-07-13T09:22:01.9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2942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hyperlink" Target="https://drive.google.com/file/d/1FQt1JgjHQcLWIqalvIuUxdV0ngpFP8I0/view?usp=drivesdk"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5" name="Text 2"/>
          <p:cNvSpPr/>
          <p:nvPr/>
        </p:nvSpPr>
        <p:spPr>
          <a:xfrm>
            <a:off x="457200" y="2286000"/>
            <a:ext cx="11274552" cy="868680"/>
          </a:xfrm>
          <a:prstGeom prst="rect">
            <a:avLst/>
          </a:prstGeom>
          <a:noFill/>
          <a:ln/>
        </p:spPr>
        <p:txBody>
          <a:bodyPr wrap="square" lIns="0" tIns="0" rIns="0" bIns="0" rtlCol="0" anchor="ctr"/>
          <a:lstStyle/>
          <a:p>
            <a:pPr marL="0" indent="0" algn="ctr">
              <a:buNone/>
            </a:pPr>
            <a:r>
              <a:rPr lang="en-US" sz="4600" b="1">
                <a:solidFill>
                  <a:schemeClr val="accent1">
                    <a:lumMod val="50000"/>
                  </a:schemeClr>
                </a:solidFill>
                <a:latin typeface="Calibri" pitchFamily="34" charset="0"/>
                <a:ea typeface="Calibri" pitchFamily="34" charset="-122"/>
                <a:cs typeface="Calibri" pitchFamily="34" charset="-120"/>
              </a:rPr>
              <a:t>Design Thinking &amp; Innovation</a:t>
            </a:r>
            <a:endParaRPr lang="en-US" sz="4600">
              <a:solidFill>
                <a:schemeClr val="accent1">
                  <a:lumMod val="50000"/>
                </a:schemeClr>
              </a:solidFill>
            </a:endParaRPr>
          </a:p>
        </p:txBody>
      </p:sp>
      <p:sp>
        <p:nvSpPr>
          <p:cNvPr id="6" name="Text 3"/>
          <p:cNvSpPr/>
          <p:nvPr/>
        </p:nvSpPr>
        <p:spPr>
          <a:xfrm>
            <a:off x="457200" y="3310128"/>
            <a:ext cx="11274552" cy="548640"/>
          </a:xfrm>
          <a:prstGeom prst="rect">
            <a:avLst/>
          </a:prstGeom>
          <a:noFill/>
          <a:ln/>
        </p:spPr>
        <p:txBody>
          <a:bodyPr wrap="square" lIns="0" tIns="0" rIns="0" bIns="0" rtlCol="0" anchor="ctr"/>
          <a:lstStyle/>
          <a:p>
            <a:pPr marL="0" indent="0" algn="ctr">
              <a:buNone/>
            </a:pPr>
            <a:r>
              <a:rPr lang="en-US" sz="2800" b="1" kern="0" spc="50">
                <a:solidFill>
                  <a:schemeClr val="accent4">
                    <a:lumMod val="75000"/>
                  </a:schemeClr>
                </a:solidFill>
                <a:latin typeface="Calibri" pitchFamily="34" charset="0"/>
                <a:ea typeface="Calibri" pitchFamily="34" charset="-122"/>
                <a:cs typeface="Calibri" pitchFamily="34" charset="-120"/>
              </a:rPr>
              <a:t>I-KRET:- Ai Integrated Medical Appointment Scheduling System for </a:t>
            </a:r>
          </a:p>
          <a:p>
            <a:pPr marL="0" indent="0" algn="ctr">
              <a:buNone/>
            </a:pPr>
            <a:r>
              <a:rPr lang="en-US" sz="2800" b="1" kern="0" spc="50">
                <a:solidFill>
                  <a:schemeClr val="accent4">
                    <a:lumMod val="75000"/>
                  </a:schemeClr>
                </a:solidFill>
                <a:latin typeface="Calibri" pitchFamily="34" charset="0"/>
                <a:ea typeface="Calibri" pitchFamily="34" charset="-122"/>
                <a:cs typeface="Calibri" pitchFamily="34" charset="-120"/>
              </a:rPr>
              <a:t>Patients visiting Government Hospitals.</a:t>
            </a:r>
            <a:endParaRPr lang="en-US" sz="2800">
              <a:solidFill>
                <a:schemeClr val="accent4">
                  <a:lumMod val="75000"/>
                </a:schemeClr>
              </a:solidFill>
            </a:endParaRPr>
          </a:p>
        </p:txBody>
      </p:sp>
      <p:sp>
        <p:nvSpPr>
          <p:cNvPr id="7" name="Shape 4"/>
          <p:cNvSpPr/>
          <p:nvPr/>
        </p:nvSpPr>
        <p:spPr>
          <a:xfrm>
            <a:off x="640080" y="4361688"/>
            <a:ext cx="5285232" cy="1755648"/>
          </a:xfrm>
          <a:prstGeom prst="roundRect">
            <a:avLst>
              <a:gd name="adj" fmla="val 5208"/>
            </a:avLst>
          </a:prstGeom>
          <a:solidFill>
            <a:srgbClr val="0E2A5E"/>
          </a:solidFill>
          <a:ln w="12700">
            <a:solidFill>
              <a:srgbClr val="24467F"/>
            </a:solidFill>
            <a:prstDash val="solid"/>
          </a:ln>
          <a:effectLst>
            <a:outerShdw blurRad="88900" dist="38100" dir="5400000" algn="bl" rotWithShape="0">
              <a:srgbClr val="071A45">
                <a:alpha val="12000"/>
              </a:srgbClr>
            </a:outerShdw>
          </a:effectLst>
        </p:spPr>
      </p:sp>
      <p:sp>
        <p:nvSpPr>
          <p:cNvPr id="8" name="Text 5"/>
          <p:cNvSpPr/>
          <p:nvPr/>
        </p:nvSpPr>
        <p:spPr>
          <a:xfrm>
            <a:off x="826008" y="4560637"/>
            <a:ext cx="4754880" cy="274320"/>
          </a:xfrm>
          <a:prstGeom prst="rect">
            <a:avLst/>
          </a:prstGeom>
          <a:noFill/>
          <a:ln/>
        </p:spPr>
        <p:txBody>
          <a:bodyPr wrap="square" lIns="0" tIns="0" rIns="0" bIns="0" rtlCol="0" anchor="ctr"/>
          <a:lstStyle/>
          <a:p>
            <a:pPr marL="0" indent="0">
              <a:buNone/>
            </a:pPr>
            <a:r>
              <a:rPr lang="en-US" sz="1300" b="1" kern="0" spc="300">
                <a:solidFill>
                  <a:srgbClr val="FFC01E"/>
                </a:solidFill>
                <a:latin typeface="Calibri" pitchFamily="34" charset="0"/>
                <a:ea typeface="Calibri" pitchFamily="34" charset="-122"/>
                <a:cs typeface="Calibri" pitchFamily="34" charset="-120"/>
              </a:rPr>
              <a:t>TEAM</a:t>
            </a:r>
            <a:endParaRPr lang="en-US" sz="1300"/>
          </a:p>
        </p:txBody>
      </p:sp>
      <p:sp>
        <p:nvSpPr>
          <p:cNvPr id="9" name="Text 6"/>
          <p:cNvSpPr/>
          <p:nvPr/>
        </p:nvSpPr>
        <p:spPr>
          <a:xfrm>
            <a:off x="871728" y="4822972"/>
            <a:ext cx="4800600" cy="1188720"/>
          </a:xfrm>
          <a:prstGeom prst="rect">
            <a:avLst/>
          </a:prstGeom>
          <a:noFill/>
          <a:ln/>
        </p:spPr>
        <p:txBody>
          <a:bodyPr wrap="square" lIns="0" tIns="0" rIns="0" bIns="0" rtlCol="0" anchor="ctr"/>
          <a:lstStyle/>
          <a:p>
            <a:pPr marL="0" indent="0">
              <a:lnSpc>
                <a:spcPct val="104000"/>
              </a:lnSpc>
              <a:buNone/>
            </a:pPr>
            <a:r>
              <a:rPr lang="en-US" sz="1150" b="1">
                <a:solidFill>
                  <a:srgbClr val="FFFFFF"/>
                </a:solidFill>
                <a:latin typeface="Calibri" pitchFamily="34" charset="0"/>
                <a:ea typeface="Calibri" pitchFamily="34" charset="-122"/>
                <a:cs typeface="Calibri" pitchFamily="34" charset="-120"/>
              </a:rPr>
              <a:t>Team Name / Batch No: </a:t>
            </a:r>
            <a:r>
              <a:rPr lang="en-US" sz="1150" b="1">
                <a:solidFill>
                  <a:srgbClr val="C3CDE8"/>
                </a:solidFill>
                <a:latin typeface="Calibri" pitchFamily="34" charset="0"/>
                <a:ea typeface="Calibri" pitchFamily="34" charset="-122"/>
                <a:cs typeface="Calibri" pitchFamily="34" charset="-120"/>
              </a:rPr>
              <a:t>[ JUSTINOV ]</a:t>
            </a:r>
            <a:endParaRPr lang="en-US" sz="1150" b="1"/>
          </a:p>
          <a:p>
            <a:pPr marL="0" indent="0">
              <a:lnSpc>
                <a:spcPct val="104000"/>
              </a:lnSpc>
              <a:buNone/>
            </a:pPr>
            <a:r>
              <a:rPr lang="en-US" sz="1150" b="1">
                <a:solidFill>
                  <a:srgbClr val="FFFFFF"/>
                </a:solidFill>
                <a:latin typeface="Calibri" pitchFamily="34" charset="0"/>
                <a:ea typeface="Calibri" pitchFamily="34" charset="-122"/>
                <a:cs typeface="Calibri" pitchFamily="34" charset="-120"/>
              </a:rPr>
              <a:t>Year &amp; Dept / Section: </a:t>
            </a:r>
            <a:r>
              <a:rPr lang="en-US" sz="1150" b="1">
                <a:solidFill>
                  <a:srgbClr val="C3CDE8"/>
                </a:solidFill>
                <a:latin typeface="Calibri" pitchFamily="34" charset="0"/>
                <a:ea typeface="Calibri" pitchFamily="34" charset="-122"/>
                <a:cs typeface="Calibri" pitchFamily="34" charset="-120"/>
              </a:rPr>
              <a:t>[ II-AI&amp;DS-B ]</a:t>
            </a:r>
            <a:endParaRPr lang="en-US" sz="1150" b="1"/>
          </a:p>
          <a:p>
            <a:pPr marL="0" indent="0">
              <a:lnSpc>
                <a:spcPct val="104000"/>
              </a:lnSpc>
              <a:buNone/>
            </a:pPr>
            <a:r>
              <a:rPr lang="en-US" sz="1150" b="1">
                <a:solidFill>
                  <a:srgbClr val="FFFFFF"/>
                </a:solidFill>
                <a:latin typeface="Calibri" pitchFamily="34" charset="0"/>
                <a:ea typeface="Calibri" pitchFamily="34" charset="-122"/>
                <a:cs typeface="Calibri" pitchFamily="34" charset="-120"/>
              </a:rPr>
              <a:t>Members:  </a:t>
            </a:r>
            <a:endParaRPr lang="en-US" sz="1150" b="1"/>
          </a:p>
          <a:p>
            <a:pPr marL="0" indent="0">
              <a:lnSpc>
                <a:spcPct val="104000"/>
              </a:lnSpc>
              <a:buNone/>
            </a:pPr>
            <a:r>
              <a:rPr lang="en-US" sz="1150" b="1">
                <a:solidFill>
                  <a:srgbClr val="C3CDE8"/>
                </a:solidFill>
                <a:latin typeface="Calibri" pitchFamily="34" charset="0"/>
                <a:ea typeface="Calibri" pitchFamily="34" charset="-122"/>
                <a:cs typeface="Calibri" pitchFamily="34" charset="-120"/>
              </a:rPr>
              <a:t>1. [ KALICHARAN  K— 25AD086]</a:t>
            </a:r>
            <a:endParaRPr lang="en-US" sz="1150" b="1"/>
          </a:p>
          <a:p>
            <a:pPr marL="0" indent="0">
              <a:lnSpc>
                <a:spcPct val="104000"/>
              </a:lnSpc>
              <a:buNone/>
            </a:pPr>
            <a:r>
              <a:rPr lang="en-US" sz="1150" b="1">
                <a:solidFill>
                  <a:srgbClr val="C3CDE8"/>
                </a:solidFill>
                <a:latin typeface="Calibri" pitchFamily="34" charset="0"/>
                <a:ea typeface="Calibri" pitchFamily="34" charset="-122"/>
                <a:cs typeface="Calibri" pitchFamily="34" charset="-120"/>
              </a:rPr>
              <a:t>2. [ KANISH S  — 25AD089 ]</a:t>
            </a:r>
            <a:endParaRPr lang="en-US" sz="1150" b="1"/>
          </a:p>
          <a:p>
            <a:pPr marL="0" indent="0">
              <a:lnSpc>
                <a:spcPct val="104000"/>
              </a:lnSpc>
              <a:buNone/>
            </a:pPr>
            <a:r>
              <a:rPr lang="en-US" sz="1150" b="1">
                <a:solidFill>
                  <a:srgbClr val="C3CDE8"/>
                </a:solidFill>
                <a:latin typeface="Calibri" pitchFamily="34" charset="0"/>
                <a:ea typeface="Calibri" pitchFamily="34" charset="-122"/>
                <a:cs typeface="Calibri" pitchFamily="34" charset="-120"/>
              </a:rPr>
              <a:t>3. [ KRISHKARTHIK S — 25AD107]</a:t>
            </a:r>
            <a:endParaRPr lang="en-US" sz="1150" b="1"/>
          </a:p>
        </p:txBody>
      </p:sp>
      <p:sp>
        <p:nvSpPr>
          <p:cNvPr id="10" name="Shape 7"/>
          <p:cNvSpPr/>
          <p:nvPr/>
        </p:nvSpPr>
        <p:spPr>
          <a:xfrm>
            <a:off x="6263640" y="4361688"/>
            <a:ext cx="5285232" cy="1755648"/>
          </a:xfrm>
          <a:prstGeom prst="roundRect">
            <a:avLst>
              <a:gd name="adj" fmla="val 5208"/>
            </a:avLst>
          </a:prstGeom>
          <a:solidFill>
            <a:srgbClr val="0E2A5E"/>
          </a:solidFill>
          <a:ln w="12700">
            <a:solidFill>
              <a:srgbClr val="24467F"/>
            </a:solidFill>
            <a:prstDash val="solid"/>
          </a:ln>
          <a:effectLst>
            <a:outerShdw blurRad="88900" dist="38100" dir="5400000" algn="bl" rotWithShape="0">
              <a:srgbClr val="071A45">
                <a:alpha val="12000"/>
              </a:srgbClr>
            </a:outerShdw>
          </a:effectLst>
        </p:spPr>
      </p:sp>
      <p:sp>
        <p:nvSpPr>
          <p:cNvPr id="11" name="Text 8"/>
          <p:cNvSpPr/>
          <p:nvPr/>
        </p:nvSpPr>
        <p:spPr>
          <a:xfrm>
            <a:off x="6519672" y="4510421"/>
            <a:ext cx="4846320" cy="274320"/>
          </a:xfrm>
          <a:prstGeom prst="rect">
            <a:avLst/>
          </a:prstGeom>
          <a:noFill/>
          <a:ln/>
        </p:spPr>
        <p:txBody>
          <a:bodyPr wrap="square" lIns="0" tIns="0" rIns="0" bIns="0" rtlCol="0" anchor="ctr"/>
          <a:lstStyle/>
          <a:p>
            <a:pPr marL="0" indent="0">
              <a:buNone/>
            </a:pPr>
            <a:r>
              <a:rPr lang="en-US" sz="1300" b="1" kern="0" spc="300">
                <a:solidFill>
                  <a:srgbClr val="FFC01E"/>
                </a:solidFill>
                <a:latin typeface="Calibri" pitchFamily="34" charset="0"/>
                <a:ea typeface="Calibri" pitchFamily="34" charset="-122"/>
                <a:cs typeface="Calibri" pitchFamily="34" charset="-120"/>
              </a:rPr>
              <a:t>FACULTY MENTOR</a:t>
            </a:r>
            <a:endParaRPr lang="en-US" sz="1300"/>
          </a:p>
        </p:txBody>
      </p:sp>
      <p:sp>
        <p:nvSpPr>
          <p:cNvPr id="12" name="Text 9"/>
          <p:cNvSpPr/>
          <p:nvPr/>
        </p:nvSpPr>
        <p:spPr>
          <a:xfrm>
            <a:off x="6542532" y="4693301"/>
            <a:ext cx="4800600" cy="1188720"/>
          </a:xfrm>
          <a:prstGeom prst="rect">
            <a:avLst/>
          </a:prstGeom>
          <a:noFill/>
          <a:ln/>
        </p:spPr>
        <p:txBody>
          <a:bodyPr wrap="square" lIns="0" tIns="0" rIns="0" bIns="0" rtlCol="0" anchor="ctr"/>
          <a:lstStyle/>
          <a:p>
            <a:pPr marL="0" indent="0">
              <a:lnSpc>
                <a:spcPct val="118000"/>
              </a:lnSpc>
              <a:buNone/>
            </a:pPr>
            <a:r>
              <a:rPr lang="en-US" sz="1150" b="1">
                <a:solidFill>
                  <a:srgbClr val="FFFFFF"/>
                </a:solidFill>
                <a:latin typeface="Calibri" pitchFamily="34" charset="0"/>
                <a:ea typeface="Calibri" pitchFamily="34" charset="-122"/>
                <a:cs typeface="Calibri" pitchFamily="34" charset="-120"/>
              </a:rPr>
              <a:t>Name:  </a:t>
            </a:r>
            <a:r>
              <a:rPr lang="en-US" sz="1150" b="1" err="1">
                <a:solidFill>
                  <a:srgbClr val="FFFFFF"/>
                </a:solidFill>
                <a:latin typeface="Calibri" pitchFamily="34" charset="0"/>
                <a:ea typeface="Calibri" pitchFamily="34" charset="-122"/>
                <a:cs typeface="Calibri" pitchFamily="34" charset="-120"/>
              </a:rPr>
              <a:t>Dr.G.Shobhana</a:t>
            </a:r>
            <a:endParaRPr lang="en-US" sz="1150"/>
          </a:p>
          <a:p>
            <a:pPr marL="0" indent="0">
              <a:lnSpc>
                <a:spcPct val="118000"/>
              </a:lnSpc>
              <a:buNone/>
            </a:pPr>
            <a:r>
              <a:rPr lang="en-US" sz="1150" b="1">
                <a:solidFill>
                  <a:srgbClr val="FFFFFF"/>
                </a:solidFill>
                <a:latin typeface="Calibri" pitchFamily="34" charset="0"/>
                <a:ea typeface="Calibri" pitchFamily="34" charset="-122"/>
                <a:cs typeface="Calibri" pitchFamily="34" charset="-120"/>
              </a:rPr>
              <a:t>Designation: Associate Professor</a:t>
            </a:r>
            <a:endParaRPr lang="en-US" sz="1150"/>
          </a:p>
          <a:p>
            <a:pPr marL="0" indent="0">
              <a:lnSpc>
                <a:spcPct val="118000"/>
              </a:lnSpc>
              <a:buNone/>
            </a:pPr>
            <a:r>
              <a:rPr lang="en-US" sz="1150" b="1">
                <a:solidFill>
                  <a:srgbClr val="FFFFFF"/>
                </a:solidFill>
                <a:latin typeface="Calibri" pitchFamily="34" charset="0"/>
                <a:ea typeface="Calibri" pitchFamily="34" charset="-122"/>
                <a:cs typeface="Calibri" pitchFamily="34" charset="-120"/>
              </a:rPr>
              <a:t>Department: AI-DS</a:t>
            </a:r>
            <a:endParaRPr lang="en-US" sz="1150"/>
          </a:p>
        </p:txBody>
      </p:sp>
      <p:pic>
        <p:nvPicPr>
          <p:cNvPr id="14" name="Picture 13">
            <a:extLst>
              <a:ext uri="{FF2B5EF4-FFF2-40B4-BE49-F238E27FC236}">
                <a16:creationId xmlns:a16="http://schemas.microsoft.com/office/drawing/2014/main" id="{0BB6F3AC-A25B-FA81-D01B-8830AA3166B6}"/>
              </a:ext>
            </a:extLst>
          </p:cNvPr>
          <p:cNvPicPr>
            <a:picLocks noChangeAspect="1"/>
          </p:cNvPicPr>
          <p:nvPr/>
        </p:nvPicPr>
        <p:blipFill>
          <a:blip r:embed="rId3"/>
          <a:stretch>
            <a:fillRect/>
          </a:stretch>
        </p:blipFill>
        <p:spPr>
          <a:xfrm>
            <a:off x="3609471" y="766875"/>
            <a:ext cx="4462991" cy="1242400"/>
          </a:xfrm>
          <a:prstGeom prst="rect">
            <a:avLst/>
          </a:prstGeom>
        </p:spPr>
      </p:pic>
      <p:pic>
        <p:nvPicPr>
          <p:cNvPr id="18" name="Picture 17">
            <a:extLst>
              <a:ext uri="{FF2B5EF4-FFF2-40B4-BE49-F238E27FC236}">
                <a16:creationId xmlns:a16="http://schemas.microsoft.com/office/drawing/2014/main" id="{F5C50F42-22C5-4882-0565-C577D168A2AD}"/>
              </a:ext>
            </a:extLst>
          </p:cNvPr>
          <p:cNvPicPr>
            <a:picLocks noChangeAspect="1"/>
          </p:cNvPicPr>
          <p:nvPr/>
        </p:nvPicPr>
        <p:blipFill>
          <a:blip r:embed="rId4"/>
          <a:stretch>
            <a:fillRect/>
          </a:stretch>
        </p:blipFill>
        <p:spPr>
          <a:xfrm>
            <a:off x="10363654" y="371776"/>
            <a:ext cx="1325426" cy="6035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a:solidFill>
                  <a:srgbClr val="071A45"/>
                </a:solidFill>
                <a:latin typeface="Calibri" pitchFamily="34" charset="0"/>
                <a:ea typeface="Calibri" pitchFamily="34" charset="-122"/>
                <a:cs typeface="Calibri" pitchFamily="34" charset="-120"/>
              </a:rPr>
              <a:t>Meet Our User</a:t>
            </a:r>
            <a:endParaRPr lang="en-US" sz="2900"/>
          </a:p>
        </p:txBody>
      </p:sp>
      <p:sp>
        <p:nvSpPr>
          <p:cNvPr id="5" name="Shape 1"/>
          <p:cNvSpPr/>
          <p:nvPr/>
        </p:nvSpPr>
        <p:spPr>
          <a:xfrm>
            <a:off x="640080" y="1691640"/>
            <a:ext cx="3977640" cy="4297680"/>
          </a:xfrm>
          <a:prstGeom prst="roundRect">
            <a:avLst>
              <a:gd name="adj" fmla="val 2299"/>
            </a:avLst>
          </a:prstGeom>
          <a:solidFill>
            <a:srgbClr val="EDEFF5"/>
          </a:solidFill>
          <a:ln w="12700">
            <a:solidFill>
              <a:srgbClr val="DFE4EE"/>
            </a:solidFill>
            <a:prstDash val="solid"/>
          </a:ln>
          <a:effectLst>
            <a:outerShdw blurRad="88900" dist="38100" dir="5400000" algn="bl" rotWithShape="0">
              <a:srgbClr val="071A45">
                <a:alpha val="12000"/>
              </a:srgbClr>
            </a:outerShdw>
          </a:effectLst>
        </p:spPr>
      </p:sp>
      <p:pic>
        <p:nvPicPr>
          <p:cNvPr id="6" name="Image 2" descr="preencoded.png"/>
          <p:cNvPicPr>
            <a:picLocks noChangeAspect="1"/>
          </p:cNvPicPr>
          <p:nvPr/>
        </p:nvPicPr>
        <p:blipFill>
          <a:blip r:embed="rId4"/>
          <a:stretch>
            <a:fillRect/>
          </a:stretch>
        </p:blipFill>
        <p:spPr>
          <a:xfrm>
            <a:off x="2331720" y="3246120"/>
            <a:ext cx="594360" cy="594360"/>
          </a:xfrm>
          <a:prstGeom prst="rect">
            <a:avLst/>
          </a:prstGeom>
        </p:spPr>
      </p:pic>
      <p:sp>
        <p:nvSpPr>
          <p:cNvPr id="7" name="Text 2"/>
          <p:cNvSpPr/>
          <p:nvPr/>
        </p:nvSpPr>
        <p:spPr>
          <a:xfrm>
            <a:off x="914400" y="3977640"/>
            <a:ext cx="3429000" cy="457200"/>
          </a:xfrm>
          <a:prstGeom prst="rect">
            <a:avLst/>
          </a:prstGeom>
          <a:noFill/>
          <a:ln/>
        </p:spPr>
        <p:txBody>
          <a:bodyPr wrap="square" lIns="0" tIns="0" rIns="0" bIns="0" rtlCol="0" anchor="ctr"/>
          <a:lstStyle/>
          <a:p>
            <a:pPr marL="0" indent="0" algn="ctr">
              <a:buNone/>
            </a:pPr>
            <a:r>
              <a:rPr lang="en-US" sz="1100" i="1">
                <a:solidFill>
                  <a:srgbClr val="8A93A8"/>
                </a:solidFill>
                <a:latin typeface="Calibri" pitchFamily="34" charset="0"/>
                <a:ea typeface="Calibri" pitchFamily="34" charset="-122"/>
                <a:cs typeface="Calibri" pitchFamily="34" charset="-120"/>
              </a:rPr>
              <a:t>Add a photo or sketch of your user</a:t>
            </a:r>
            <a:endParaRPr lang="en-US" sz="1100"/>
          </a:p>
        </p:txBody>
      </p:sp>
      <p:sp>
        <p:nvSpPr>
          <p:cNvPr id="8" name="Shape 3"/>
          <p:cNvSpPr/>
          <p:nvPr/>
        </p:nvSpPr>
        <p:spPr>
          <a:xfrm>
            <a:off x="4937760" y="1691640"/>
            <a:ext cx="6629400" cy="713232"/>
          </a:xfrm>
          <a:prstGeom prst="roundRect">
            <a:avLst>
              <a:gd name="adj" fmla="val 897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9" name="Text 4"/>
          <p:cNvSpPr/>
          <p:nvPr/>
        </p:nvSpPr>
        <p:spPr>
          <a:xfrm>
            <a:off x="5120640" y="1781636"/>
            <a:ext cx="6263640"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Who are they?</a:t>
            </a:r>
            <a:endParaRPr lang="en-US" sz="1350"/>
          </a:p>
        </p:txBody>
      </p:sp>
      <p:sp>
        <p:nvSpPr>
          <p:cNvPr id="10" name="Text 5"/>
          <p:cNvSpPr/>
          <p:nvPr/>
        </p:nvSpPr>
        <p:spPr>
          <a:xfrm>
            <a:off x="5138928" y="1984248"/>
            <a:ext cx="6263640" cy="457200"/>
          </a:xfrm>
          <a:prstGeom prst="rect">
            <a:avLst/>
          </a:prstGeom>
          <a:noFill/>
          <a:ln/>
        </p:spPr>
        <p:txBody>
          <a:bodyPr wrap="square" lIns="0" tIns="0" rIns="0" bIns="0" rtlCol="0" anchor="ctr"/>
          <a:lstStyle/>
          <a:p>
            <a:pPr marL="0" indent="0">
              <a:lnSpc>
                <a:spcPct val="95000"/>
              </a:lnSpc>
              <a:buNone/>
            </a:pPr>
            <a:r>
              <a:rPr lang="en-US" sz="1200" i="1">
                <a:latin typeface="Calibri" pitchFamily="34" charset="0"/>
              </a:rPr>
              <a:t>Daily wage workers(</a:t>
            </a:r>
            <a:r>
              <a:rPr lang="en-US" sz="1200" b="1" i="1">
                <a:latin typeface="Calibri" pitchFamily="34" charset="0"/>
              </a:rPr>
              <a:t>Maheshkumar</a:t>
            </a:r>
            <a:r>
              <a:rPr lang="en-US" sz="1200" i="1">
                <a:latin typeface="Calibri" pitchFamily="34" charset="0"/>
              </a:rPr>
              <a:t>) who is working in a garment company, a housewife(</a:t>
            </a:r>
            <a:r>
              <a:rPr lang="en-US" sz="1200" b="1" i="1">
                <a:latin typeface="Calibri" pitchFamily="34" charset="0"/>
              </a:rPr>
              <a:t>Suganya</a:t>
            </a:r>
            <a:r>
              <a:rPr lang="en-US" sz="1200" i="1">
                <a:latin typeface="Calibri" pitchFamily="34" charset="0"/>
              </a:rPr>
              <a:t>) with diabetes and a small  school student(</a:t>
            </a:r>
            <a:r>
              <a:rPr lang="en-US" sz="1200" b="1" i="1" err="1">
                <a:latin typeface="Calibri" pitchFamily="34" charset="0"/>
              </a:rPr>
              <a:t>Midhushi</a:t>
            </a:r>
            <a:r>
              <a:rPr lang="en-US" sz="1200" i="1">
                <a:latin typeface="Calibri" pitchFamily="34" charset="0"/>
              </a:rPr>
              <a:t>).</a:t>
            </a:r>
            <a:endParaRPr lang="en-US" sz="1200"/>
          </a:p>
        </p:txBody>
      </p:sp>
      <p:sp>
        <p:nvSpPr>
          <p:cNvPr id="11" name="Shape 6"/>
          <p:cNvSpPr/>
          <p:nvPr/>
        </p:nvSpPr>
        <p:spPr>
          <a:xfrm>
            <a:off x="4956048" y="2517187"/>
            <a:ext cx="3200400" cy="713232"/>
          </a:xfrm>
          <a:prstGeom prst="roundRect">
            <a:avLst>
              <a:gd name="adj" fmla="val 897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txBody>
          <a:bodyPr/>
          <a:lstStyle/>
          <a:p>
            <a:endParaRPr lang="en-US"/>
          </a:p>
          <a:p>
            <a:r>
              <a:rPr lang="en-US" sz="1200"/>
              <a:t>Daily wage worker , a housewife diagnosed with diabetes and a  school student .</a:t>
            </a:r>
          </a:p>
          <a:p>
            <a:endParaRPr lang="en-US" sz="1000"/>
          </a:p>
        </p:txBody>
      </p:sp>
      <p:sp>
        <p:nvSpPr>
          <p:cNvPr id="12" name="Text 7"/>
          <p:cNvSpPr/>
          <p:nvPr/>
        </p:nvSpPr>
        <p:spPr>
          <a:xfrm>
            <a:off x="5138928" y="2508584"/>
            <a:ext cx="2834640"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Role / Occupation</a:t>
            </a:r>
            <a:endParaRPr lang="en-US" sz="1350"/>
          </a:p>
        </p:txBody>
      </p:sp>
      <p:sp>
        <p:nvSpPr>
          <p:cNvPr id="13" name="Shape 8"/>
          <p:cNvSpPr/>
          <p:nvPr/>
        </p:nvSpPr>
        <p:spPr>
          <a:xfrm>
            <a:off x="8366760" y="2534056"/>
            <a:ext cx="3200400" cy="713232"/>
          </a:xfrm>
          <a:prstGeom prst="roundRect">
            <a:avLst>
              <a:gd name="adj" fmla="val 897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txBody>
          <a:bodyPr/>
          <a:lstStyle/>
          <a:p>
            <a:endParaRPr lang="en-US" sz="1000"/>
          </a:p>
        </p:txBody>
      </p:sp>
      <p:sp>
        <p:nvSpPr>
          <p:cNvPr id="14" name="Text 9"/>
          <p:cNvSpPr/>
          <p:nvPr/>
        </p:nvSpPr>
        <p:spPr>
          <a:xfrm>
            <a:off x="8549640" y="2514600"/>
            <a:ext cx="2834640"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Age group</a:t>
            </a:r>
            <a:endParaRPr lang="en-US" sz="1350"/>
          </a:p>
        </p:txBody>
      </p:sp>
      <p:sp>
        <p:nvSpPr>
          <p:cNvPr id="15" name="Shape 10"/>
          <p:cNvSpPr/>
          <p:nvPr/>
        </p:nvSpPr>
        <p:spPr>
          <a:xfrm>
            <a:off x="5015484" y="3321859"/>
            <a:ext cx="3200400" cy="713232"/>
          </a:xfrm>
          <a:prstGeom prst="roundRect">
            <a:avLst>
              <a:gd name="adj" fmla="val 897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txBody>
          <a:bodyPr/>
          <a:lstStyle/>
          <a:p>
            <a:endParaRPr lang="en-IN"/>
          </a:p>
        </p:txBody>
      </p:sp>
      <p:sp>
        <p:nvSpPr>
          <p:cNvPr id="16" name="Text 11"/>
          <p:cNvSpPr/>
          <p:nvPr/>
        </p:nvSpPr>
        <p:spPr>
          <a:xfrm>
            <a:off x="5138928" y="3351758"/>
            <a:ext cx="2834640"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Location</a:t>
            </a:r>
            <a:endParaRPr lang="en-US" sz="1350"/>
          </a:p>
        </p:txBody>
      </p:sp>
      <p:sp>
        <p:nvSpPr>
          <p:cNvPr id="17" name="Text 12"/>
          <p:cNvSpPr/>
          <p:nvPr/>
        </p:nvSpPr>
        <p:spPr>
          <a:xfrm>
            <a:off x="5166360" y="3571214"/>
            <a:ext cx="2834640" cy="457200"/>
          </a:xfrm>
          <a:prstGeom prst="rect">
            <a:avLst/>
          </a:prstGeom>
          <a:noFill/>
          <a:ln/>
        </p:spPr>
        <p:txBody>
          <a:bodyPr wrap="square" lIns="0" tIns="0" rIns="0" bIns="0" rtlCol="0" anchor="ctr"/>
          <a:lstStyle/>
          <a:p>
            <a:pPr marL="0" indent="0">
              <a:lnSpc>
                <a:spcPct val="95000"/>
              </a:lnSpc>
              <a:buNone/>
            </a:pPr>
            <a:r>
              <a:rPr lang="en-US" sz="1200" i="1">
                <a:latin typeface="Calibri" pitchFamily="34" charset="0"/>
                <a:ea typeface="Calibri" pitchFamily="34" charset="-122"/>
                <a:cs typeface="Calibri" pitchFamily="34" charset="-120"/>
              </a:rPr>
              <a:t>Tirupur ,Tamil Nadu</a:t>
            </a:r>
            <a:endParaRPr lang="en-US" sz="1200"/>
          </a:p>
        </p:txBody>
      </p:sp>
      <p:sp>
        <p:nvSpPr>
          <p:cNvPr id="18" name="Shape 13"/>
          <p:cNvSpPr/>
          <p:nvPr/>
        </p:nvSpPr>
        <p:spPr>
          <a:xfrm>
            <a:off x="8366760" y="3337560"/>
            <a:ext cx="3200400" cy="713232"/>
          </a:xfrm>
          <a:prstGeom prst="roundRect">
            <a:avLst>
              <a:gd name="adj" fmla="val 897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txBody>
          <a:bodyPr/>
          <a:lstStyle/>
          <a:p>
            <a:endParaRPr lang="en-IN"/>
          </a:p>
        </p:txBody>
      </p:sp>
      <p:sp>
        <p:nvSpPr>
          <p:cNvPr id="19" name="Text 14"/>
          <p:cNvSpPr/>
          <p:nvPr/>
        </p:nvSpPr>
        <p:spPr>
          <a:xfrm>
            <a:off x="8521041" y="3403514"/>
            <a:ext cx="2834640"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Where we met them</a:t>
            </a:r>
            <a:endParaRPr lang="en-US" sz="1350"/>
          </a:p>
        </p:txBody>
      </p:sp>
      <p:sp>
        <p:nvSpPr>
          <p:cNvPr id="20" name="Shape 15"/>
          <p:cNvSpPr/>
          <p:nvPr/>
        </p:nvSpPr>
        <p:spPr>
          <a:xfrm>
            <a:off x="4937760" y="4224528"/>
            <a:ext cx="6629400" cy="1764792"/>
          </a:xfrm>
          <a:prstGeom prst="roundRect">
            <a:avLst>
              <a:gd name="adj" fmla="val 5181"/>
            </a:avLst>
          </a:prstGeom>
          <a:solidFill>
            <a:srgbClr val="FFF6DD"/>
          </a:solidFill>
          <a:ln w="12700">
            <a:solidFill>
              <a:srgbClr val="F2D98A"/>
            </a:solidFill>
            <a:prstDash val="solid"/>
          </a:ln>
          <a:effectLst>
            <a:outerShdw blurRad="88900" dist="38100" dir="5400000" algn="bl" rotWithShape="0">
              <a:srgbClr val="071A45">
                <a:alpha val="12000"/>
              </a:srgbClr>
            </a:outerShdw>
          </a:effectLst>
        </p:spPr>
      </p:sp>
      <p:pic>
        <p:nvPicPr>
          <p:cNvPr id="21" name="Image 3" descr="preencoded.png"/>
          <p:cNvPicPr>
            <a:picLocks noChangeAspect="1"/>
          </p:cNvPicPr>
          <p:nvPr/>
        </p:nvPicPr>
        <p:blipFill>
          <a:blip r:embed="rId5"/>
          <a:stretch>
            <a:fillRect/>
          </a:stretch>
        </p:blipFill>
        <p:spPr>
          <a:xfrm>
            <a:off x="5193792" y="4480560"/>
            <a:ext cx="365760" cy="365760"/>
          </a:xfrm>
          <a:prstGeom prst="rect">
            <a:avLst/>
          </a:prstGeom>
        </p:spPr>
      </p:pic>
      <p:sp>
        <p:nvSpPr>
          <p:cNvPr id="22" name="Text 16"/>
          <p:cNvSpPr/>
          <p:nvPr/>
        </p:nvSpPr>
        <p:spPr>
          <a:xfrm>
            <a:off x="5715000" y="4443984"/>
            <a:ext cx="4572000" cy="310896"/>
          </a:xfrm>
          <a:prstGeom prst="rect">
            <a:avLst/>
          </a:prstGeom>
          <a:noFill/>
          <a:ln/>
        </p:spPr>
        <p:txBody>
          <a:bodyPr wrap="square" lIns="0" tIns="0" rIns="0" bIns="0" rtlCol="0" anchor="ctr"/>
          <a:lstStyle/>
          <a:p>
            <a:pPr marL="0" indent="0">
              <a:buNone/>
            </a:pPr>
            <a:r>
              <a:rPr lang="en-US" sz="1350" b="1">
                <a:solidFill>
                  <a:srgbClr val="9A6B12"/>
                </a:solidFill>
                <a:latin typeface="Calibri" pitchFamily="34" charset="0"/>
                <a:ea typeface="Calibri" pitchFamily="34" charset="-122"/>
                <a:cs typeface="Calibri" pitchFamily="34" charset="-120"/>
              </a:rPr>
              <a:t>In their words</a:t>
            </a:r>
            <a:endParaRPr lang="en-US" sz="1350"/>
          </a:p>
        </p:txBody>
      </p:sp>
      <p:sp>
        <p:nvSpPr>
          <p:cNvPr id="23" name="Text 17"/>
          <p:cNvSpPr/>
          <p:nvPr/>
        </p:nvSpPr>
        <p:spPr>
          <a:xfrm>
            <a:off x="5212080" y="4846320"/>
            <a:ext cx="6080760" cy="1005840"/>
          </a:xfrm>
          <a:prstGeom prst="rect">
            <a:avLst/>
          </a:prstGeom>
          <a:noFill/>
          <a:ln/>
        </p:spPr>
        <p:txBody>
          <a:bodyPr wrap="square" lIns="0" tIns="0" rIns="0" bIns="0" rtlCol="0" anchor="t"/>
          <a:lstStyle/>
          <a:p>
            <a:pPr marL="0" indent="0">
              <a:lnSpc>
                <a:spcPct val="105000"/>
              </a:lnSpc>
              <a:buNone/>
            </a:pPr>
            <a:r>
              <a:rPr lang="en-US" sz="1400" i="1">
                <a:solidFill>
                  <a:srgbClr val="6A5520"/>
                </a:solidFill>
                <a:latin typeface="Calibri" pitchFamily="34" charset="0"/>
                <a:ea typeface="Calibri" pitchFamily="34" charset="-122"/>
                <a:cs typeface="Calibri" pitchFamily="34" charset="-120"/>
              </a:rPr>
              <a:t>“Visiting Govt. hospital is not a solution for an illness ,It is just  another illness to visit the Govt. hospital."</a:t>
            </a:r>
            <a:endParaRPr lang="en-US" sz="1400"/>
          </a:p>
        </p:txBody>
      </p:sp>
      <p:sp>
        <p:nvSpPr>
          <p:cNvPr id="24" name="Text 18"/>
          <p:cNvSpPr/>
          <p:nvPr/>
        </p:nvSpPr>
        <p:spPr>
          <a:xfrm>
            <a:off x="502920" y="6455664"/>
            <a:ext cx="8229600" cy="274320"/>
          </a:xfrm>
          <a:prstGeom prst="rect">
            <a:avLst/>
          </a:prstGeom>
          <a:noFill/>
          <a:ln/>
        </p:spPr>
        <p:txBody>
          <a:bodyPr wrap="square" lIns="0" tIns="0" rIns="0" bIns="0" rtlCol="0" anchor="ctr"/>
          <a:lstStyle/>
          <a:p>
            <a:pPr marL="0" indent="0">
              <a:buNone/>
            </a:pPr>
            <a:r>
              <a:rPr lang="en-US" sz="900">
                <a:solidFill>
                  <a:srgbClr val="AAB2C5"/>
                </a:solidFill>
                <a:latin typeface="Calibri" pitchFamily="34" charset="0"/>
                <a:ea typeface="Calibri" pitchFamily="34" charset="-122"/>
                <a:cs typeface="Calibri" pitchFamily="34" charset="-120"/>
              </a:rPr>
              <a:t>Sri Eshwar College of Engineering  ·  Design Thinking &amp; Innovation</a:t>
            </a:r>
            <a:endParaRPr lang="en-US" sz="900"/>
          </a:p>
        </p:txBody>
      </p:sp>
      <p:pic>
        <p:nvPicPr>
          <p:cNvPr id="30" name="Picture 29">
            <a:extLst>
              <a:ext uri="{FF2B5EF4-FFF2-40B4-BE49-F238E27FC236}">
                <a16:creationId xmlns:a16="http://schemas.microsoft.com/office/drawing/2014/main" id="{DD1C5338-9F12-2A72-0991-47C52A36BDD2}"/>
              </a:ext>
            </a:extLst>
          </p:cNvPr>
          <p:cNvPicPr>
            <a:picLocks noChangeAspect="1"/>
          </p:cNvPicPr>
          <p:nvPr/>
        </p:nvPicPr>
        <p:blipFill>
          <a:blip r:embed="rId6"/>
          <a:stretch>
            <a:fillRect/>
          </a:stretch>
        </p:blipFill>
        <p:spPr>
          <a:xfrm>
            <a:off x="10363654" y="371776"/>
            <a:ext cx="1325426" cy="603504"/>
          </a:xfrm>
          <a:prstGeom prst="rect">
            <a:avLst/>
          </a:prstGeom>
        </p:spPr>
      </p:pic>
      <p:sp>
        <p:nvSpPr>
          <p:cNvPr id="3" name="TextBox 2">
            <a:extLst>
              <a:ext uri="{FF2B5EF4-FFF2-40B4-BE49-F238E27FC236}">
                <a16:creationId xmlns:a16="http://schemas.microsoft.com/office/drawing/2014/main" id="{38535062-6E48-FA05-9F7D-774DE0569586}"/>
              </a:ext>
            </a:extLst>
          </p:cNvPr>
          <p:cNvSpPr txBox="1"/>
          <p:nvPr/>
        </p:nvSpPr>
        <p:spPr>
          <a:xfrm>
            <a:off x="8549640" y="2770632"/>
            <a:ext cx="1985415" cy="276999"/>
          </a:xfrm>
          <a:prstGeom prst="rect">
            <a:avLst/>
          </a:prstGeom>
          <a:noFill/>
        </p:spPr>
        <p:txBody>
          <a:bodyPr wrap="square" rtlCol="0">
            <a:spAutoFit/>
          </a:bodyPr>
          <a:lstStyle/>
          <a:p>
            <a:r>
              <a:rPr lang="en-US" sz="1200"/>
              <a:t>45-50 ,35-40 and 8-10</a:t>
            </a:r>
            <a:endParaRPr lang="en-IN" sz="1200"/>
          </a:p>
        </p:txBody>
      </p:sp>
      <p:sp>
        <p:nvSpPr>
          <p:cNvPr id="25" name="TextBox 24">
            <a:extLst>
              <a:ext uri="{FF2B5EF4-FFF2-40B4-BE49-F238E27FC236}">
                <a16:creationId xmlns:a16="http://schemas.microsoft.com/office/drawing/2014/main" id="{2DEDA947-2F4E-3DF0-4A73-8D36A4E569B5}"/>
              </a:ext>
            </a:extLst>
          </p:cNvPr>
          <p:cNvSpPr txBox="1"/>
          <p:nvPr/>
        </p:nvSpPr>
        <p:spPr>
          <a:xfrm>
            <a:off x="8458200" y="3622137"/>
            <a:ext cx="1985415" cy="461665"/>
          </a:xfrm>
          <a:prstGeom prst="rect">
            <a:avLst/>
          </a:prstGeom>
          <a:noFill/>
        </p:spPr>
        <p:txBody>
          <a:bodyPr wrap="square" rtlCol="0">
            <a:spAutoFit/>
          </a:bodyPr>
          <a:lstStyle/>
          <a:p>
            <a:r>
              <a:rPr lang="en-US" sz="1200"/>
              <a:t>We met them in their respective residence</a:t>
            </a:r>
            <a:endParaRPr lang="en-IN" sz="1200"/>
          </a:p>
        </p:txBody>
      </p:sp>
      <p:pic>
        <p:nvPicPr>
          <p:cNvPr id="31" name="Picture 30">
            <a:extLst>
              <a:ext uri="{FF2B5EF4-FFF2-40B4-BE49-F238E27FC236}">
                <a16:creationId xmlns:a16="http://schemas.microsoft.com/office/drawing/2014/main" id="{20B1A98C-091A-458E-D5AE-1B998F609606}"/>
              </a:ext>
            </a:extLst>
          </p:cNvPr>
          <p:cNvPicPr>
            <a:picLocks noChangeAspect="1"/>
          </p:cNvPicPr>
          <p:nvPr/>
        </p:nvPicPr>
        <p:blipFill>
          <a:blip r:embed="rId7"/>
          <a:stretch>
            <a:fillRect/>
          </a:stretch>
        </p:blipFill>
        <p:spPr>
          <a:xfrm>
            <a:off x="640080" y="1691640"/>
            <a:ext cx="3922776" cy="43881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a:solidFill>
                  <a:srgbClr val="071A45"/>
                </a:solidFill>
                <a:latin typeface="Calibri" pitchFamily="34" charset="0"/>
                <a:ea typeface="Calibri" pitchFamily="34" charset="-122"/>
                <a:cs typeface="Calibri" pitchFamily="34" charset="-120"/>
              </a:rPr>
              <a:t>How We Built Empathy</a:t>
            </a:r>
            <a:endParaRPr lang="en-US" sz="2900"/>
          </a:p>
        </p:txBody>
      </p:sp>
      <p:sp>
        <p:nvSpPr>
          <p:cNvPr id="5" name="Text 1"/>
          <p:cNvSpPr/>
          <p:nvPr/>
        </p:nvSpPr>
        <p:spPr>
          <a:xfrm>
            <a:off x="502920" y="1463040"/>
            <a:ext cx="11155680" cy="365760"/>
          </a:xfrm>
          <a:prstGeom prst="rect">
            <a:avLst/>
          </a:prstGeom>
          <a:noFill/>
          <a:ln/>
        </p:spPr>
        <p:txBody>
          <a:bodyPr wrap="square" lIns="0" tIns="0" rIns="0" bIns="0" rtlCol="0" anchor="ctr"/>
          <a:lstStyle/>
          <a:p>
            <a:pPr marL="0" indent="0">
              <a:buNone/>
            </a:pPr>
            <a:r>
              <a:rPr lang="en-US" sz="1350" b="1">
                <a:solidFill>
                  <a:srgbClr val="071A45"/>
                </a:solidFill>
                <a:latin typeface="Calibri" pitchFamily="34" charset="0"/>
                <a:ea typeface="Calibri" pitchFamily="34" charset="-122"/>
                <a:cs typeface="Calibri" pitchFamily="34" charset="-120"/>
              </a:rPr>
              <a:t>What to do:  </a:t>
            </a:r>
            <a:r>
              <a:rPr lang="en-US" sz="1350">
                <a:solidFill>
                  <a:srgbClr val="5B6685"/>
                </a:solidFill>
                <a:latin typeface="Calibri" pitchFamily="34" charset="0"/>
                <a:ea typeface="Calibri" pitchFamily="34" charset="-122"/>
                <a:cs typeface="Calibri" pitchFamily="34" charset="-120"/>
              </a:rPr>
              <a:t>In each step, write what YOUR team actually did to understand your user. </a:t>
            </a:r>
            <a:r>
              <a:rPr lang="en-US" sz="1350" i="1">
                <a:solidFill>
                  <a:srgbClr val="8A93A8"/>
                </a:solidFill>
                <a:latin typeface="Calibri" pitchFamily="34" charset="0"/>
                <a:ea typeface="Calibri" pitchFamily="34" charset="-122"/>
                <a:cs typeface="Calibri" pitchFamily="34" charset="-120"/>
              </a:rPr>
              <a:t>A sample is shown in grey — replace it with your own.</a:t>
            </a:r>
            <a:endParaRPr lang="en-US" sz="1350"/>
          </a:p>
        </p:txBody>
      </p:sp>
      <p:sp>
        <p:nvSpPr>
          <p:cNvPr id="6" name="Shape 2"/>
          <p:cNvSpPr/>
          <p:nvPr/>
        </p:nvSpPr>
        <p:spPr>
          <a:xfrm>
            <a:off x="640080" y="2011680"/>
            <a:ext cx="3529584" cy="4069080"/>
          </a:xfrm>
          <a:prstGeom prst="roundRect">
            <a:avLst>
              <a:gd name="adj" fmla="val 2591"/>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7" name="Shape 3"/>
          <p:cNvSpPr/>
          <p:nvPr/>
        </p:nvSpPr>
        <p:spPr>
          <a:xfrm>
            <a:off x="1965960" y="2304288"/>
            <a:ext cx="877824" cy="877824"/>
          </a:xfrm>
          <a:prstGeom prst="ellipse">
            <a:avLst/>
          </a:prstGeom>
          <a:solidFill>
            <a:srgbClr val="E9EFFC"/>
          </a:solidFill>
          <a:ln w="12700">
            <a:solidFill>
              <a:srgbClr val="D2DEF8"/>
            </a:solidFill>
            <a:prstDash val="solid"/>
          </a:ln>
        </p:spPr>
      </p:sp>
      <p:pic>
        <p:nvPicPr>
          <p:cNvPr id="8" name="Image 2" descr="preencoded.png"/>
          <p:cNvPicPr>
            <a:picLocks noChangeAspect="1"/>
          </p:cNvPicPr>
          <p:nvPr/>
        </p:nvPicPr>
        <p:blipFill>
          <a:blip r:embed="rId4"/>
          <a:stretch>
            <a:fillRect/>
          </a:stretch>
        </p:blipFill>
        <p:spPr>
          <a:xfrm>
            <a:off x="2157984" y="2487168"/>
            <a:ext cx="493776" cy="493776"/>
          </a:xfrm>
          <a:prstGeom prst="rect">
            <a:avLst/>
          </a:prstGeom>
        </p:spPr>
      </p:pic>
      <p:sp>
        <p:nvSpPr>
          <p:cNvPr id="9" name="Shape 4"/>
          <p:cNvSpPr/>
          <p:nvPr/>
        </p:nvSpPr>
        <p:spPr>
          <a:xfrm>
            <a:off x="859536" y="2231136"/>
            <a:ext cx="365760" cy="365760"/>
          </a:xfrm>
          <a:prstGeom prst="ellipse">
            <a:avLst/>
          </a:prstGeom>
          <a:solidFill>
            <a:srgbClr val="FFC01E"/>
          </a:solidFill>
          <a:ln/>
        </p:spPr>
      </p:sp>
      <p:sp>
        <p:nvSpPr>
          <p:cNvPr id="10" name="Text 5"/>
          <p:cNvSpPr/>
          <p:nvPr/>
        </p:nvSpPr>
        <p:spPr>
          <a:xfrm>
            <a:off x="859536" y="2231136"/>
            <a:ext cx="365760" cy="365760"/>
          </a:xfrm>
          <a:prstGeom prst="rect">
            <a:avLst/>
          </a:prstGeom>
          <a:noFill/>
          <a:ln/>
        </p:spPr>
        <p:txBody>
          <a:bodyPr wrap="square" lIns="0" tIns="0" rIns="0" bIns="0" rtlCol="0" anchor="ctr"/>
          <a:lstStyle/>
          <a:p>
            <a:pPr marL="0" indent="0" algn="ctr">
              <a:buNone/>
            </a:pPr>
            <a:r>
              <a:rPr lang="en-US" sz="1400" b="1">
                <a:solidFill>
                  <a:srgbClr val="071A45"/>
                </a:solidFill>
                <a:latin typeface="Calibri" pitchFamily="34" charset="0"/>
                <a:ea typeface="Calibri" pitchFamily="34" charset="-122"/>
                <a:cs typeface="Calibri" pitchFamily="34" charset="-120"/>
              </a:rPr>
              <a:t>1</a:t>
            </a:r>
            <a:endParaRPr lang="en-US" sz="1400"/>
          </a:p>
        </p:txBody>
      </p:sp>
      <p:sp>
        <p:nvSpPr>
          <p:cNvPr id="11" name="Text 6"/>
          <p:cNvSpPr/>
          <p:nvPr/>
        </p:nvSpPr>
        <p:spPr>
          <a:xfrm>
            <a:off x="640080" y="3310128"/>
            <a:ext cx="3529584" cy="365760"/>
          </a:xfrm>
          <a:prstGeom prst="rect">
            <a:avLst/>
          </a:prstGeom>
          <a:noFill/>
          <a:ln/>
        </p:spPr>
        <p:txBody>
          <a:bodyPr wrap="square" lIns="0" tIns="0" rIns="0" bIns="0" rtlCol="0" anchor="ctr"/>
          <a:lstStyle/>
          <a:p>
            <a:pPr marL="0" indent="0" algn="ctr">
              <a:buNone/>
            </a:pPr>
            <a:r>
              <a:rPr lang="en-US" sz="2000" b="1">
                <a:solidFill>
                  <a:srgbClr val="071A45"/>
                </a:solidFill>
                <a:latin typeface="Calibri" pitchFamily="34" charset="0"/>
                <a:ea typeface="Calibri" pitchFamily="34" charset="-122"/>
                <a:cs typeface="Calibri" pitchFamily="34" charset="-120"/>
              </a:rPr>
              <a:t>Observe</a:t>
            </a:r>
            <a:endParaRPr lang="en-US" sz="2000"/>
          </a:p>
        </p:txBody>
      </p:sp>
      <p:sp>
        <p:nvSpPr>
          <p:cNvPr id="12" name="Text 7"/>
          <p:cNvSpPr/>
          <p:nvPr/>
        </p:nvSpPr>
        <p:spPr>
          <a:xfrm>
            <a:off x="914400" y="3749040"/>
            <a:ext cx="2980944" cy="868680"/>
          </a:xfrm>
          <a:prstGeom prst="rect">
            <a:avLst/>
          </a:prstGeom>
          <a:noFill/>
          <a:ln/>
        </p:spPr>
        <p:txBody>
          <a:bodyPr wrap="square" lIns="0" tIns="0" rIns="0" bIns="0" rtlCol="0" anchor="ctr"/>
          <a:lstStyle/>
          <a:p>
            <a:pPr marL="0" indent="0" algn="l">
              <a:lnSpc>
                <a:spcPct val="105000"/>
              </a:lnSpc>
              <a:buNone/>
            </a:pPr>
            <a:r>
              <a:rPr lang="en-US" sz="1200">
                <a:solidFill>
                  <a:srgbClr val="5B6685"/>
                </a:solidFill>
                <a:latin typeface="Calibri" pitchFamily="34" charset="0"/>
                <a:ea typeface="Calibri" pitchFamily="34" charset="-122"/>
                <a:cs typeface="Calibri" pitchFamily="34" charset="-120"/>
              </a:rPr>
              <a:t>Watch them in their real setting. What do they struggle with — without saying a word?</a:t>
            </a:r>
            <a:endParaRPr lang="en-US" sz="1200"/>
          </a:p>
        </p:txBody>
      </p:sp>
      <p:sp>
        <p:nvSpPr>
          <p:cNvPr id="13" name="Shape 8"/>
          <p:cNvSpPr/>
          <p:nvPr/>
        </p:nvSpPr>
        <p:spPr>
          <a:xfrm>
            <a:off x="896112" y="4709160"/>
            <a:ext cx="3017520" cy="1207008"/>
          </a:xfrm>
          <a:prstGeom prst="roundRect">
            <a:avLst>
              <a:gd name="adj" fmla="val 5303"/>
            </a:avLst>
          </a:prstGeom>
          <a:solidFill>
            <a:srgbClr val="FFF6DD"/>
          </a:solidFill>
          <a:ln w="12700">
            <a:solidFill>
              <a:srgbClr val="F2D98A"/>
            </a:solidFill>
            <a:prstDash val="solid"/>
          </a:ln>
        </p:spPr>
      </p:sp>
      <p:sp>
        <p:nvSpPr>
          <p:cNvPr id="14" name="Text 9"/>
          <p:cNvSpPr/>
          <p:nvPr/>
        </p:nvSpPr>
        <p:spPr>
          <a:xfrm>
            <a:off x="1024128" y="4800600"/>
            <a:ext cx="2798064" cy="237744"/>
          </a:xfrm>
          <a:prstGeom prst="rect">
            <a:avLst/>
          </a:prstGeom>
          <a:noFill/>
          <a:ln/>
        </p:spPr>
        <p:txBody>
          <a:bodyPr wrap="square" lIns="0" tIns="0" rIns="0" bIns="0" rtlCol="0" anchor="ctr"/>
          <a:lstStyle/>
          <a:p>
            <a:pPr marL="0" indent="0">
              <a:buNone/>
            </a:pPr>
            <a:r>
              <a:rPr lang="en-US" sz="900" b="1" kern="0" spc="150">
                <a:solidFill>
                  <a:srgbClr val="B5891E"/>
                </a:solidFill>
                <a:latin typeface="Calibri" pitchFamily="34" charset="0"/>
                <a:ea typeface="Calibri" pitchFamily="34" charset="-122"/>
                <a:cs typeface="Calibri" pitchFamily="34" charset="-120"/>
              </a:rPr>
              <a:t>SAMPLE</a:t>
            </a:r>
            <a:endParaRPr lang="en-US" sz="900"/>
          </a:p>
        </p:txBody>
      </p:sp>
      <p:sp>
        <p:nvSpPr>
          <p:cNvPr id="15" name="Text 10"/>
          <p:cNvSpPr/>
          <p:nvPr/>
        </p:nvSpPr>
        <p:spPr>
          <a:xfrm>
            <a:off x="1024128" y="5029200"/>
            <a:ext cx="2761488" cy="841248"/>
          </a:xfrm>
          <a:prstGeom prst="rect">
            <a:avLst/>
          </a:prstGeom>
          <a:noFill/>
          <a:ln/>
        </p:spPr>
        <p:txBody>
          <a:bodyPr wrap="square" lIns="0" tIns="0" rIns="0" bIns="0" rtlCol="0" anchor="ctr"/>
          <a:lstStyle/>
          <a:p>
            <a:r>
              <a:rPr lang="en-IN" sz="1050"/>
              <a:t>Visited a government hospital and observed patients standing in long queues for registration. Noticed elderly and disabled patients struggling to wait for hours. Observed hospital staff manually recording patient details and managing appointments, causing delays.</a:t>
            </a:r>
            <a:endParaRPr lang="en-US" sz="1050"/>
          </a:p>
        </p:txBody>
      </p:sp>
      <p:sp>
        <p:nvSpPr>
          <p:cNvPr id="16" name="Shape 11"/>
          <p:cNvSpPr/>
          <p:nvPr/>
        </p:nvSpPr>
        <p:spPr>
          <a:xfrm>
            <a:off x="4453128" y="2011680"/>
            <a:ext cx="3529584" cy="4069080"/>
          </a:xfrm>
          <a:prstGeom prst="roundRect">
            <a:avLst>
              <a:gd name="adj" fmla="val 2591"/>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7" name="Shape 12"/>
          <p:cNvSpPr/>
          <p:nvPr/>
        </p:nvSpPr>
        <p:spPr>
          <a:xfrm>
            <a:off x="5779008" y="2304288"/>
            <a:ext cx="877824" cy="877824"/>
          </a:xfrm>
          <a:prstGeom prst="ellipse">
            <a:avLst/>
          </a:prstGeom>
          <a:solidFill>
            <a:srgbClr val="E9EFFC"/>
          </a:solidFill>
          <a:ln w="12700">
            <a:solidFill>
              <a:srgbClr val="D2DEF8"/>
            </a:solidFill>
            <a:prstDash val="solid"/>
          </a:ln>
        </p:spPr>
      </p:sp>
      <p:pic>
        <p:nvPicPr>
          <p:cNvPr id="18" name="Image 3" descr="preencoded.png"/>
          <p:cNvPicPr>
            <a:picLocks noChangeAspect="1"/>
          </p:cNvPicPr>
          <p:nvPr/>
        </p:nvPicPr>
        <p:blipFill>
          <a:blip r:embed="rId5"/>
          <a:stretch>
            <a:fillRect/>
          </a:stretch>
        </p:blipFill>
        <p:spPr>
          <a:xfrm>
            <a:off x="5971032" y="2487168"/>
            <a:ext cx="493776" cy="493776"/>
          </a:xfrm>
          <a:prstGeom prst="rect">
            <a:avLst/>
          </a:prstGeom>
        </p:spPr>
      </p:pic>
      <p:sp>
        <p:nvSpPr>
          <p:cNvPr id="19" name="Shape 13"/>
          <p:cNvSpPr/>
          <p:nvPr/>
        </p:nvSpPr>
        <p:spPr>
          <a:xfrm>
            <a:off x="4672584" y="2231136"/>
            <a:ext cx="365760" cy="365760"/>
          </a:xfrm>
          <a:prstGeom prst="ellipse">
            <a:avLst/>
          </a:prstGeom>
          <a:solidFill>
            <a:srgbClr val="FFC01E"/>
          </a:solidFill>
          <a:ln/>
        </p:spPr>
      </p:sp>
      <p:sp>
        <p:nvSpPr>
          <p:cNvPr id="20" name="Text 14"/>
          <p:cNvSpPr/>
          <p:nvPr/>
        </p:nvSpPr>
        <p:spPr>
          <a:xfrm>
            <a:off x="4672584" y="2231136"/>
            <a:ext cx="365760" cy="365760"/>
          </a:xfrm>
          <a:prstGeom prst="rect">
            <a:avLst/>
          </a:prstGeom>
          <a:noFill/>
          <a:ln/>
        </p:spPr>
        <p:txBody>
          <a:bodyPr wrap="square" lIns="0" tIns="0" rIns="0" bIns="0" rtlCol="0" anchor="ctr"/>
          <a:lstStyle/>
          <a:p>
            <a:pPr marL="0" indent="0" algn="ctr">
              <a:buNone/>
            </a:pPr>
            <a:r>
              <a:rPr lang="en-US" sz="1400" b="1">
                <a:solidFill>
                  <a:srgbClr val="071A45"/>
                </a:solidFill>
                <a:latin typeface="Calibri" pitchFamily="34" charset="0"/>
                <a:ea typeface="Calibri" pitchFamily="34" charset="-122"/>
                <a:cs typeface="Calibri" pitchFamily="34" charset="-120"/>
              </a:rPr>
              <a:t>2</a:t>
            </a:r>
            <a:endParaRPr lang="en-US" sz="1400"/>
          </a:p>
        </p:txBody>
      </p:sp>
      <p:sp>
        <p:nvSpPr>
          <p:cNvPr id="21" name="Text 15"/>
          <p:cNvSpPr/>
          <p:nvPr/>
        </p:nvSpPr>
        <p:spPr>
          <a:xfrm>
            <a:off x="4453128" y="3310128"/>
            <a:ext cx="3529584" cy="365760"/>
          </a:xfrm>
          <a:prstGeom prst="rect">
            <a:avLst/>
          </a:prstGeom>
          <a:noFill/>
          <a:ln/>
        </p:spPr>
        <p:txBody>
          <a:bodyPr wrap="square" lIns="0" tIns="0" rIns="0" bIns="0" rtlCol="0" anchor="ctr"/>
          <a:lstStyle/>
          <a:p>
            <a:pPr marL="0" indent="0" algn="ctr">
              <a:buNone/>
            </a:pPr>
            <a:r>
              <a:rPr lang="en-US" sz="2000" b="1">
                <a:solidFill>
                  <a:srgbClr val="071A45"/>
                </a:solidFill>
                <a:latin typeface="Calibri" pitchFamily="34" charset="0"/>
                <a:ea typeface="Calibri" pitchFamily="34" charset="-122"/>
                <a:cs typeface="Calibri" pitchFamily="34" charset="-120"/>
              </a:rPr>
              <a:t>Interact</a:t>
            </a:r>
            <a:endParaRPr lang="en-US" sz="2000"/>
          </a:p>
        </p:txBody>
      </p:sp>
      <p:sp>
        <p:nvSpPr>
          <p:cNvPr id="22" name="Text 16"/>
          <p:cNvSpPr/>
          <p:nvPr/>
        </p:nvSpPr>
        <p:spPr>
          <a:xfrm>
            <a:off x="4727448" y="3749040"/>
            <a:ext cx="2980944" cy="868680"/>
          </a:xfrm>
          <a:prstGeom prst="rect">
            <a:avLst/>
          </a:prstGeom>
          <a:noFill/>
          <a:ln/>
        </p:spPr>
        <p:txBody>
          <a:bodyPr wrap="square" lIns="0" tIns="0" rIns="0" bIns="0" rtlCol="0" anchor="ctr"/>
          <a:lstStyle/>
          <a:p>
            <a:pPr marL="0" indent="0" algn="l">
              <a:lnSpc>
                <a:spcPct val="105000"/>
              </a:lnSpc>
              <a:buNone/>
            </a:pPr>
            <a:r>
              <a:rPr lang="en-US" sz="1200">
                <a:solidFill>
                  <a:srgbClr val="5B6685"/>
                </a:solidFill>
                <a:latin typeface="Calibri" pitchFamily="34" charset="0"/>
                <a:ea typeface="Calibri" pitchFamily="34" charset="-122"/>
                <a:cs typeface="Calibri" pitchFamily="34" charset="-120"/>
              </a:rPr>
              <a:t>Talk and listen. Ask “why” until you reach the real reason.</a:t>
            </a:r>
            <a:endParaRPr lang="en-US" sz="1200"/>
          </a:p>
        </p:txBody>
      </p:sp>
      <p:sp>
        <p:nvSpPr>
          <p:cNvPr id="23" name="Shape 17"/>
          <p:cNvSpPr/>
          <p:nvPr/>
        </p:nvSpPr>
        <p:spPr>
          <a:xfrm>
            <a:off x="4676864" y="4718888"/>
            <a:ext cx="3017520" cy="1207008"/>
          </a:xfrm>
          <a:prstGeom prst="roundRect">
            <a:avLst>
              <a:gd name="adj" fmla="val 5303"/>
            </a:avLst>
          </a:prstGeom>
          <a:solidFill>
            <a:srgbClr val="FFF6DD"/>
          </a:solidFill>
          <a:ln w="12700">
            <a:solidFill>
              <a:srgbClr val="F2D98A"/>
            </a:solidFill>
            <a:prstDash val="solid"/>
          </a:ln>
        </p:spPr>
        <p:txBody>
          <a:bodyPr/>
          <a:lstStyle/>
          <a:p>
            <a:endParaRPr lang="en-IN"/>
          </a:p>
        </p:txBody>
      </p:sp>
      <p:sp>
        <p:nvSpPr>
          <p:cNvPr id="24" name="Text 18"/>
          <p:cNvSpPr/>
          <p:nvPr/>
        </p:nvSpPr>
        <p:spPr>
          <a:xfrm>
            <a:off x="4837176" y="4800600"/>
            <a:ext cx="2798064" cy="237744"/>
          </a:xfrm>
          <a:prstGeom prst="rect">
            <a:avLst/>
          </a:prstGeom>
          <a:noFill/>
          <a:ln/>
        </p:spPr>
        <p:txBody>
          <a:bodyPr wrap="square" lIns="0" tIns="0" rIns="0" bIns="0" rtlCol="0" anchor="ctr"/>
          <a:lstStyle/>
          <a:p>
            <a:pPr marL="0" indent="0">
              <a:buNone/>
            </a:pPr>
            <a:r>
              <a:rPr lang="en-US" sz="900" b="1" kern="0" spc="150">
                <a:solidFill>
                  <a:srgbClr val="B5891E"/>
                </a:solidFill>
                <a:latin typeface="Calibri" pitchFamily="34" charset="0"/>
                <a:ea typeface="Calibri" pitchFamily="34" charset="-122"/>
                <a:cs typeface="Calibri" pitchFamily="34" charset="-120"/>
              </a:rPr>
              <a:t>SAMPLE</a:t>
            </a:r>
            <a:endParaRPr lang="en-US" sz="900"/>
          </a:p>
        </p:txBody>
      </p:sp>
      <p:sp>
        <p:nvSpPr>
          <p:cNvPr id="25" name="Text 19"/>
          <p:cNvSpPr/>
          <p:nvPr/>
        </p:nvSpPr>
        <p:spPr>
          <a:xfrm>
            <a:off x="4837176" y="5029200"/>
            <a:ext cx="2761488" cy="841248"/>
          </a:xfrm>
          <a:prstGeom prst="rect">
            <a:avLst/>
          </a:prstGeom>
          <a:noFill/>
          <a:ln/>
        </p:spPr>
        <p:txBody>
          <a:bodyPr wrap="square" lIns="0" tIns="0" rIns="0" bIns="0" rtlCol="0" anchor="ctr"/>
          <a:lstStyle/>
          <a:p>
            <a:pPr marL="0" indent="0">
              <a:lnSpc>
                <a:spcPct val="100000"/>
              </a:lnSpc>
              <a:buNone/>
            </a:pPr>
            <a:endParaRPr lang="en-US" sz="1050"/>
          </a:p>
        </p:txBody>
      </p:sp>
      <p:sp>
        <p:nvSpPr>
          <p:cNvPr id="26" name="Shape 20"/>
          <p:cNvSpPr/>
          <p:nvPr/>
        </p:nvSpPr>
        <p:spPr>
          <a:xfrm>
            <a:off x="8266176" y="2011680"/>
            <a:ext cx="3529584" cy="4069080"/>
          </a:xfrm>
          <a:prstGeom prst="roundRect">
            <a:avLst>
              <a:gd name="adj" fmla="val 2591"/>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27" name="Shape 21"/>
          <p:cNvSpPr/>
          <p:nvPr/>
        </p:nvSpPr>
        <p:spPr>
          <a:xfrm>
            <a:off x="9592056" y="2304288"/>
            <a:ext cx="877824" cy="877824"/>
          </a:xfrm>
          <a:prstGeom prst="ellipse">
            <a:avLst/>
          </a:prstGeom>
          <a:solidFill>
            <a:srgbClr val="E9EFFC"/>
          </a:solidFill>
          <a:ln w="12700">
            <a:solidFill>
              <a:srgbClr val="D2DEF8"/>
            </a:solidFill>
            <a:prstDash val="solid"/>
          </a:ln>
        </p:spPr>
      </p:sp>
      <p:pic>
        <p:nvPicPr>
          <p:cNvPr id="28" name="Image 4" descr="preencoded.png"/>
          <p:cNvPicPr>
            <a:picLocks noChangeAspect="1"/>
          </p:cNvPicPr>
          <p:nvPr/>
        </p:nvPicPr>
        <p:blipFill>
          <a:blip r:embed="rId6"/>
          <a:stretch>
            <a:fillRect/>
          </a:stretch>
        </p:blipFill>
        <p:spPr>
          <a:xfrm>
            <a:off x="9784080" y="2487168"/>
            <a:ext cx="493776" cy="493776"/>
          </a:xfrm>
          <a:prstGeom prst="rect">
            <a:avLst/>
          </a:prstGeom>
        </p:spPr>
      </p:pic>
      <p:sp>
        <p:nvSpPr>
          <p:cNvPr id="29" name="Shape 22"/>
          <p:cNvSpPr/>
          <p:nvPr/>
        </p:nvSpPr>
        <p:spPr>
          <a:xfrm>
            <a:off x="8485632" y="2231136"/>
            <a:ext cx="365760" cy="365760"/>
          </a:xfrm>
          <a:prstGeom prst="ellipse">
            <a:avLst/>
          </a:prstGeom>
          <a:solidFill>
            <a:srgbClr val="FFC01E"/>
          </a:solidFill>
          <a:ln/>
        </p:spPr>
      </p:sp>
      <p:sp>
        <p:nvSpPr>
          <p:cNvPr id="30" name="Text 23"/>
          <p:cNvSpPr/>
          <p:nvPr/>
        </p:nvSpPr>
        <p:spPr>
          <a:xfrm>
            <a:off x="8485632" y="2231136"/>
            <a:ext cx="365760" cy="365760"/>
          </a:xfrm>
          <a:prstGeom prst="rect">
            <a:avLst/>
          </a:prstGeom>
          <a:noFill/>
          <a:ln/>
        </p:spPr>
        <p:txBody>
          <a:bodyPr wrap="square" lIns="0" tIns="0" rIns="0" bIns="0" rtlCol="0" anchor="ctr"/>
          <a:lstStyle/>
          <a:p>
            <a:pPr marL="0" indent="0" algn="ctr">
              <a:buNone/>
            </a:pPr>
            <a:r>
              <a:rPr lang="en-US" sz="1400" b="1">
                <a:solidFill>
                  <a:srgbClr val="071A45"/>
                </a:solidFill>
                <a:latin typeface="Calibri" pitchFamily="34" charset="0"/>
                <a:ea typeface="Calibri" pitchFamily="34" charset="-122"/>
                <a:cs typeface="Calibri" pitchFamily="34" charset="-120"/>
              </a:rPr>
              <a:t>3</a:t>
            </a:r>
            <a:endParaRPr lang="en-US" sz="1400"/>
          </a:p>
        </p:txBody>
      </p:sp>
      <p:sp>
        <p:nvSpPr>
          <p:cNvPr id="31" name="Text 24"/>
          <p:cNvSpPr/>
          <p:nvPr/>
        </p:nvSpPr>
        <p:spPr>
          <a:xfrm>
            <a:off x="8266176" y="3310128"/>
            <a:ext cx="3529584" cy="365760"/>
          </a:xfrm>
          <a:prstGeom prst="rect">
            <a:avLst/>
          </a:prstGeom>
          <a:noFill/>
          <a:ln/>
        </p:spPr>
        <p:txBody>
          <a:bodyPr wrap="square" lIns="0" tIns="0" rIns="0" bIns="0" rtlCol="0" anchor="ctr"/>
          <a:lstStyle/>
          <a:p>
            <a:pPr marL="0" indent="0" algn="ctr">
              <a:buNone/>
            </a:pPr>
            <a:r>
              <a:rPr lang="en-US" sz="2000" b="1">
                <a:solidFill>
                  <a:srgbClr val="071A45"/>
                </a:solidFill>
                <a:latin typeface="Calibri" pitchFamily="34" charset="0"/>
                <a:ea typeface="Calibri" pitchFamily="34" charset="-122"/>
                <a:cs typeface="Calibri" pitchFamily="34" charset="-120"/>
              </a:rPr>
              <a:t>Understand</a:t>
            </a:r>
            <a:endParaRPr lang="en-US" sz="2000"/>
          </a:p>
        </p:txBody>
      </p:sp>
      <p:sp>
        <p:nvSpPr>
          <p:cNvPr id="32" name="Text 25"/>
          <p:cNvSpPr/>
          <p:nvPr/>
        </p:nvSpPr>
        <p:spPr>
          <a:xfrm>
            <a:off x="8540496" y="3749040"/>
            <a:ext cx="2980944" cy="868680"/>
          </a:xfrm>
          <a:prstGeom prst="rect">
            <a:avLst/>
          </a:prstGeom>
          <a:noFill/>
          <a:ln/>
        </p:spPr>
        <p:txBody>
          <a:bodyPr wrap="square" lIns="0" tIns="0" rIns="0" bIns="0" rtlCol="0" anchor="ctr"/>
          <a:lstStyle/>
          <a:p>
            <a:pPr marL="0" indent="0" algn="l">
              <a:lnSpc>
                <a:spcPct val="105000"/>
              </a:lnSpc>
              <a:buNone/>
            </a:pPr>
            <a:r>
              <a:rPr lang="en-US" sz="1200">
                <a:solidFill>
                  <a:srgbClr val="5B6685"/>
                </a:solidFill>
                <a:latin typeface="Calibri" pitchFamily="34" charset="0"/>
                <a:ea typeface="Calibri" pitchFamily="34" charset="-122"/>
                <a:cs typeface="Calibri" pitchFamily="34" charset="-120"/>
              </a:rPr>
              <a:t>Step into their shoes. Separate what they say from what they truly need.</a:t>
            </a:r>
            <a:endParaRPr lang="en-US" sz="1200"/>
          </a:p>
        </p:txBody>
      </p:sp>
      <p:sp>
        <p:nvSpPr>
          <p:cNvPr id="33" name="Shape 26"/>
          <p:cNvSpPr/>
          <p:nvPr/>
        </p:nvSpPr>
        <p:spPr>
          <a:xfrm>
            <a:off x="8522208" y="4709160"/>
            <a:ext cx="3017520" cy="1207008"/>
          </a:xfrm>
          <a:prstGeom prst="roundRect">
            <a:avLst>
              <a:gd name="adj" fmla="val 5303"/>
            </a:avLst>
          </a:prstGeom>
          <a:solidFill>
            <a:srgbClr val="FFF6DD"/>
          </a:solidFill>
          <a:ln w="12700">
            <a:solidFill>
              <a:srgbClr val="F2D98A"/>
            </a:solidFill>
            <a:prstDash val="solid"/>
          </a:ln>
        </p:spPr>
      </p:sp>
      <p:sp>
        <p:nvSpPr>
          <p:cNvPr id="34" name="Text 27"/>
          <p:cNvSpPr/>
          <p:nvPr/>
        </p:nvSpPr>
        <p:spPr>
          <a:xfrm>
            <a:off x="8650224" y="4800600"/>
            <a:ext cx="2798064" cy="237744"/>
          </a:xfrm>
          <a:prstGeom prst="rect">
            <a:avLst/>
          </a:prstGeom>
          <a:noFill/>
          <a:ln/>
        </p:spPr>
        <p:txBody>
          <a:bodyPr wrap="square" lIns="0" tIns="0" rIns="0" bIns="0" rtlCol="0" anchor="ctr"/>
          <a:lstStyle/>
          <a:p>
            <a:pPr marL="0" indent="0">
              <a:buNone/>
            </a:pPr>
            <a:r>
              <a:rPr lang="en-US" sz="900" b="1" kern="0" spc="150">
                <a:solidFill>
                  <a:srgbClr val="B5891E"/>
                </a:solidFill>
                <a:latin typeface="Calibri" pitchFamily="34" charset="0"/>
                <a:ea typeface="Calibri" pitchFamily="34" charset="-122"/>
                <a:cs typeface="Calibri" pitchFamily="34" charset="-120"/>
              </a:rPr>
              <a:t>SAMPLE</a:t>
            </a:r>
            <a:endParaRPr lang="en-US" sz="900"/>
          </a:p>
        </p:txBody>
      </p:sp>
      <p:sp>
        <p:nvSpPr>
          <p:cNvPr id="35" name="Text 28"/>
          <p:cNvSpPr/>
          <p:nvPr/>
        </p:nvSpPr>
        <p:spPr>
          <a:xfrm>
            <a:off x="8650224" y="5029200"/>
            <a:ext cx="2761488" cy="841248"/>
          </a:xfrm>
          <a:prstGeom prst="rect">
            <a:avLst/>
          </a:prstGeom>
          <a:noFill/>
          <a:ln/>
        </p:spPr>
        <p:txBody>
          <a:bodyPr wrap="square" lIns="0" tIns="0" rIns="0" bIns="0" rtlCol="0" anchor="ctr"/>
          <a:lstStyle/>
          <a:p>
            <a:pPr marL="0" indent="0">
              <a:lnSpc>
                <a:spcPct val="100000"/>
              </a:lnSpc>
              <a:buNone/>
            </a:pPr>
            <a:endParaRPr lang="en-US" sz="1050"/>
          </a:p>
        </p:txBody>
      </p:sp>
      <p:sp>
        <p:nvSpPr>
          <p:cNvPr id="36" name="Text 29"/>
          <p:cNvSpPr/>
          <p:nvPr/>
        </p:nvSpPr>
        <p:spPr>
          <a:xfrm>
            <a:off x="502920" y="6455664"/>
            <a:ext cx="8229600" cy="274320"/>
          </a:xfrm>
          <a:prstGeom prst="rect">
            <a:avLst/>
          </a:prstGeom>
          <a:noFill/>
          <a:ln/>
        </p:spPr>
        <p:txBody>
          <a:bodyPr wrap="square" lIns="0" tIns="0" rIns="0" bIns="0" rtlCol="0" anchor="ctr"/>
          <a:lstStyle/>
          <a:p>
            <a:pPr marL="0" indent="0">
              <a:buNone/>
            </a:pPr>
            <a:r>
              <a:rPr lang="en-US" sz="900">
                <a:solidFill>
                  <a:srgbClr val="AAB2C5"/>
                </a:solidFill>
                <a:latin typeface="Calibri" pitchFamily="34" charset="0"/>
                <a:ea typeface="Calibri" pitchFamily="34" charset="-122"/>
                <a:cs typeface="Calibri" pitchFamily="34" charset="-120"/>
              </a:rPr>
              <a:t>Sri Eshwar College of Engineering  ·  Design Thinking &amp; Innovation</a:t>
            </a:r>
            <a:endParaRPr lang="en-US" sz="900"/>
          </a:p>
        </p:txBody>
      </p:sp>
      <p:pic>
        <p:nvPicPr>
          <p:cNvPr id="42" name="Picture 41">
            <a:extLst>
              <a:ext uri="{FF2B5EF4-FFF2-40B4-BE49-F238E27FC236}">
                <a16:creationId xmlns:a16="http://schemas.microsoft.com/office/drawing/2014/main" id="{5DF41527-7ADC-6ED2-9B93-C5B26E8DD9F3}"/>
              </a:ext>
            </a:extLst>
          </p:cNvPr>
          <p:cNvPicPr>
            <a:picLocks noChangeAspect="1"/>
          </p:cNvPicPr>
          <p:nvPr/>
        </p:nvPicPr>
        <p:blipFill>
          <a:blip r:embed="rId7"/>
          <a:stretch>
            <a:fillRect/>
          </a:stretch>
        </p:blipFill>
        <p:spPr>
          <a:xfrm>
            <a:off x="10363654" y="371776"/>
            <a:ext cx="1325426" cy="603504"/>
          </a:xfrm>
          <a:prstGeom prst="rect">
            <a:avLst/>
          </a:prstGeom>
        </p:spPr>
      </p:pic>
      <p:sp>
        <p:nvSpPr>
          <p:cNvPr id="3" name="TextBox 2">
            <a:extLst>
              <a:ext uri="{FF2B5EF4-FFF2-40B4-BE49-F238E27FC236}">
                <a16:creationId xmlns:a16="http://schemas.microsoft.com/office/drawing/2014/main" id="{82301BD8-AB1E-1C3E-BC9E-1F57B59161A1}"/>
              </a:ext>
            </a:extLst>
          </p:cNvPr>
          <p:cNvSpPr txBox="1"/>
          <p:nvPr/>
        </p:nvSpPr>
        <p:spPr>
          <a:xfrm>
            <a:off x="4768304" y="4979461"/>
            <a:ext cx="2761488" cy="830997"/>
          </a:xfrm>
          <a:prstGeom prst="rect">
            <a:avLst/>
          </a:prstGeom>
          <a:noFill/>
        </p:spPr>
        <p:txBody>
          <a:bodyPr wrap="square" rtlCol="0">
            <a:spAutoFit/>
          </a:bodyPr>
          <a:lstStyle/>
          <a:p>
            <a:r>
              <a:rPr lang="en-IN" sz="1200"/>
              <a:t>Spoke with patients, doctors, and registration staff. Patients said they spend too much time waiting and often don't know whether the doctor is available. </a:t>
            </a:r>
          </a:p>
        </p:txBody>
      </p:sp>
      <p:sp>
        <p:nvSpPr>
          <p:cNvPr id="37" name="TextBox 36">
            <a:extLst>
              <a:ext uri="{FF2B5EF4-FFF2-40B4-BE49-F238E27FC236}">
                <a16:creationId xmlns:a16="http://schemas.microsoft.com/office/drawing/2014/main" id="{9D6ED3CE-4E7C-FC17-CED7-F36EF54B0C79}"/>
              </a:ext>
            </a:extLst>
          </p:cNvPr>
          <p:cNvSpPr txBox="1"/>
          <p:nvPr/>
        </p:nvSpPr>
        <p:spPr>
          <a:xfrm>
            <a:off x="8585632" y="4941992"/>
            <a:ext cx="2563368" cy="1015663"/>
          </a:xfrm>
          <a:prstGeom prst="rect">
            <a:avLst/>
          </a:prstGeom>
          <a:noFill/>
        </p:spPr>
        <p:txBody>
          <a:bodyPr wrap="square" rtlCol="0">
            <a:spAutoFit/>
          </a:bodyPr>
          <a:lstStyle/>
          <a:p>
            <a:r>
              <a:rPr lang="en-IN" sz="1200"/>
              <a:t>Patients need a simple and accessible way to book appointments before visiting the hospital. Doctors need an organized schedule to manage consultations efficiently.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a:solidFill>
                  <a:srgbClr val="071A45"/>
                </a:solidFill>
                <a:latin typeface="Calibri" pitchFamily="34" charset="0"/>
                <a:ea typeface="Calibri" pitchFamily="34" charset="-122"/>
                <a:cs typeface="Calibri" pitchFamily="34" charset="-120"/>
              </a:rPr>
              <a:t>User Interview</a:t>
            </a:r>
            <a:endParaRPr lang="en-US" sz="2900"/>
          </a:p>
        </p:txBody>
      </p:sp>
      <p:sp>
        <p:nvSpPr>
          <p:cNvPr id="5" name="Text 1"/>
          <p:cNvSpPr/>
          <p:nvPr/>
        </p:nvSpPr>
        <p:spPr>
          <a:xfrm>
            <a:off x="502920" y="1463040"/>
            <a:ext cx="11155680" cy="365760"/>
          </a:xfrm>
          <a:prstGeom prst="rect">
            <a:avLst/>
          </a:prstGeom>
          <a:noFill/>
          <a:ln/>
        </p:spPr>
        <p:txBody>
          <a:bodyPr wrap="square" lIns="0" tIns="0" rIns="0" bIns="0" rtlCol="0" anchor="ctr"/>
          <a:lstStyle/>
          <a:p>
            <a:pPr marL="0" indent="0">
              <a:buNone/>
            </a:pPr>
            <a:r>
              <a:rPr lang="en-US" sz="1400">
                <a:solidFill>
                  <a:srgbClr val="5B6685"/>
                </a:solidFill>
                <a:latin typeface="Calibri" pitchFamily="34" charset="0"/>
                <a:ea typeface="Calibri" pitchFamily="34" charset="-122"/>
                <a:cs typeface="Calibri" pitchFamily="34" charset="-120"/>
              </a:rPr>
              <a:t>Play the recorded interview with your user during the presentation.</a:t>
            </a:r>
            <a:endParaRPr lang="en-US" sz="1400"/>
          </a:p>
        </p:txBody>
      </p:sp>
      <p:sp>
        <p:nvSpPr>
          <p:cNvPr id="6" name="Shape 2"/>
          <p:cNvSpPr/>
          <p:nvPr/>
        </p:nvSpPr>
        <p:spPr>
          <a:xfrm>
            <a:off x="640080" y="2011680"/>
            <a:ext cx="6035040" cy="3749040"/>
          </a:xfrm>
          <a:prstGeom prst="roundRect">
            <a:avLst>
              <a:gd name="adj" fmla="val 2439"/>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7" name="Text 3"/>
          <p:cNvSpPr/>
          <p:nvPr/>
        </p:nvSpPr>
        <p:spPr>
          <a:xfrm>
            <a:off x="1097280" y="2286000"/>
            <a:ext cx="5120640" cy="777240"/>
          </a:xfrm>
          <a:prstGeom prst="rect">
            <a:avLst/>
          </a:prstGeom>
          <a:noFill/>
          <a:ln/>
        </p:spPr>
        <p:txBody>
          <a:bodyPr wrap="square" lIns="0" tIns="0" rIns="0" bIns="0" rtlCol="0" anchor="ctr"/>
          <a:lstStyle/>
          <a:p>
            <a:pPr marL="0" indent="0" algn="ctr">
              <a:lnSpc>
                <a:spcPct val="105000"/>
              </a:lnSpc>
              <a:buNone/>
            </a:pPr>
            <a:r>
              <a:rPr lang="en-US" sz="1500" b="1">
                <a:solidFill>
                  <a:srgbClr val="071A45"/>
                </a:solidFill>
                <a:latin typeface="Calibri" pitchFamily="34" charset="0"/>
                <a:ea typeface="Calibri" pitchFamily="34" charset="-122"/>
                <a:cs typeface="Calibri" pitchFamily="34" charset="-120"/>
              </a:rPr>
              <a:t>Paste your video link or Google Drive link of the video you captured in the user interview.</a:t>
            </a:r>
            <a:endParaRPr lang="en-US" sz="1500"/>
          </a:p>
        </p:txBody>
      </p:sp>
      <p:sp>
        <p:nvSpPr>
          <p:cNvPr id="8" name="Shape 4">
            <a:hlinkClick r:id="rId4"/>
          </p:cNvPr>
          <p:cNvSpPr/>
          <p:nvPr/>
        </p:nvSpPr>
        <p:spPr>
          <a:xfrm>
            <a:off x="3090672" y="3246120"/>
            <a:ext cx="1133856" cy="1133856"/>
          </a:xfrm>
          <a:prstGeom prst="ellipse">
            <a:avLst/>
          </a:prstGeom>
          <a:solidFill>
            <a:srgbClr val="FFC01E"/>
          </a:solidFill>
          <a:ln/>
          <a:effectLst>
            <a:outerShdw blurRad="88900" dist="38100" dir="5400000" algn="bl" rotWithShape="0">
              <a:srgbClr val="071A45">
                <a:alpha val="12000"/>
              </a:srgbClr>
            </a:outerShdw>
          </a:effectLst>
        </p:spPr>
      </p:sp>
      <p:pic>
        <p:nvPicPr>
          <p:cNvPr id="9" name="Image 2" descr="preencoded.png">
            <a:hlinkClick r:id="rId4"/>
          </p:cNvPr>
          <p:cNvPicPr>
            <a:picLocks noChangeAspect="1"/>
          </p:cNvPicPr>
          <p:nvPr/>
        </p:nvPicPr>
        <p:blipFill>
          <a:blip r:embed="rId5"/>
          <a:stretch>
            <a:fillRect/>
          </a:stretch>
        </p:blipFill>
        <p:spPr>
          <a:xfrm>
            <a:off x="3511296" y="3575304"/>
            <a:ext cx="384048" cy="457200"/>
          </a:xfrm>
          <a:prstGeom prst="rect">
            <a:avLst/>
          </a:prstGeom>
        </p:spPr>
      </p:pic>
      <p:sp>
        <p:nvSpPr>
          <p:cNvPr id="10" name="Text 5"/>
          <p:cNvSpPr/>
          <p:nvPr/>
        </p:nvSpPr>
        <p:spPr>
          <a:xfrm>
            <a:off x="1097280" y="4453128"/>
            <a:ext cx="5120640" cy="310896"/>
          </a:xfrm>
          <a:prstGeom prst="rect">
            <a:avLst/>
          </a:prstGeom>
          <a:noFill/>
          <a:ln/>
        </p:spPr>
        <p:txBody>
          <a:bodyPr wrap="square" lIns="0" tIns="0" rIns="0" bIns="0" rtlCol="0" anchor="ctr"/>
          <a:lstStyle/>
          <a:p>
            <a:pPr marL="0" indent="0" algn="ctr">
              <a:buNone/>
            </a:pPr>
            <a:r>
              <a:rPr lang="en-US" sz="1300" b="1">
                <a:solidFill>
                  <a:srgbClr val="071A45"/>
                </a:solidFill>
                <a:latin typeface="Calibri" pitchFamily="34" charset="0"/>
                <a:ea typeface="Calibri" pitchFamily="34" charset="-122"/>
                <a:cs typeface="Calibri" pitchFamily="34" charset="-120"/>
              </a:rPr>
              <a:t>Click to play</a:t>
            </a:r>
            <a:endParaRPr lang="en-US" sz="1300"/>
          </a:p>
        </p:txBody>
      </p:sp>
      <p:sp>
        <p:nvSpPr>
          <p:cNvPr id="11" name="Shape 6"/>
          <p:cNvSpPr/>
          <p:nvPr/>
        </p:nvSpPr>
        <p:spPr>
          <a:xfrm>
            <a:off x="1097280" y="5074920"/>
            <a:ext cx="5120640" cy="548640"/>
          </a:xfrm>
          <a:prstGeom prst="roundRect">
            <a:avLst>
              <a:gd name="adj" fmla="val 13333"/>
            </a:avLst>
          </a:prstGeom>
          <a:solidFill>
            <a:srgbClr val="FFFFFF"/>
          </a:solidFill>
          <a:ln w="12700">
            <a:solidFill>
              <a:srgbClr val="C9D2E2"/>
            </a:solidFill>
            <a:prstDash val="solid"/>
          </a:ln>
        </p:spPr>
      </p:sp>
      <p:sp>
        <p:nvSpPr>
          <p:cNvPr id="12" name="Text 7">
            <a:hlinkClick r:id="rId4"/>
          </p:cNvPr>
          <p:cNvSpPr/>
          <p:nvPr/>
        </p:nvSpPr>
        <p:spPr>
          <a:xfrm>
            <a:off x="1280160" y="5074920"/>
            <a:ext cx="4754880" cy="548640"/>
          </a:xfrm>
          <a:prstGeom prst="rect">
            <a:avLst/>
          </a:prstGeom>
          <a:noFill/>
          <a:ln/>
        </p:spPr>
        <p:txBody>
          <a:bodyPr wrap="square" lIns="0" tIns="0" rIns="0" bIns="0" rtlCol="0" anchor="ctr"/>
          <a:lstStyle/>
          <a:p>
            <a:pPr marL="0" indent="0" algn="ctr">
              <a:buNone/>
            </a:pPr>
            <a:r>
              <a:rPr lang="en-US" sz="1200" b="1" u="sng">
                <a:solidFill>
                  <a:srgbClr val="1C52C2"/>
                </a:solidFill>
                <a:latin typeface="Calibri" pitchFamily="34" charset="0"/>
                <a:ea typeface="Calibri" pitchFamily="34" charset="-122"/>
                <a:cs typeface="Calibri" pitchFamily="34" charset="-120"/>
              </a:rPr>
              <a:t>🔗  Video link:  https://drive.google.com/file/d/1FQt1JgjHQcLWIqalvIuUxdV0ngpFP8I0/view?usp=drivesdk</a:t>
            </a:r>
            <a:endParaRPr lang="en-US" sz="1200"/>
          </a:p>
        </p:txBody>
      </p:sp>
      <p:sp>
        <p:nvSpPr>
          <p:cNvPr id="13" name="Shape 8"/>
          <p:cNvSpPr/>
          <p:nvPr/>
        </p:nvSpPr>
        <p:spPr>
          <a:xfrm>
            <a:off x="6995160" y="2011680"/>
            <a:ext cx="4572000" cy="1783080"/>
          </a:xfrm>
          <a:prstGeom prst="roundRect">
            <a:avLst>
              <a:gd name="adj" fmla="val 3590"/>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txBody>
          <a:bodyPr/>
          <a:lstStyle/>
          <a:p>
            <a:endParaRPr lang="en-US"/>
          </a:p>
          <a:p>
            <a:endParaRPr lang="en-US"/>
          </a:p>
          <a:p>
            <a:r>
              <a:rPr lang="en-US"/>
              <a:t>         </a:t>
            </a:r>
          </a:p>
        </p:txBody>
      </p:sp>
      <p:sp>
        <p:nvSpPr>
          <p:cNvPr id="14" name="Text 9"/>
          <p:cNvSpPr/>
          <p:nvPr/>
        </p:nvSpPr>
        <p:spPr>
          <a:xfrm>
            <a:off x="7196328" y="2157984"/>
            <a:ext cx="4206240"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What we learned</a:t>
            </a:r>
            <a:endParaRPr lang="en-US" sz="1350"/>
          </a:p>
        </p:txBody>
      </p:sp>
      <p:sp>
        <p:nvSpPr>
          <p:cNvPr id="15" name="Text 10"/>
          <p:cNvSpPr/>
          <p:nvPr/>
        </p:nvSpPr>
        <p:spPr>
          <a:xfrm>
            <a:off x="7196328" y="2941255"/>
            <a:ext cx="4206240" cy="457200"/>
          </a:xfrm>
          <a:prstGeom prst="rect">
            <a:avLst/>
          </a:prstGeom>
          <a:noFill/>
          <a:ln/>
        </p:spPr>
        <p:txBody>
          <a:bodyPr wrap="square" lIns="0" tIns="0" rIns="0" bIns="0" rtlCol="0" anchor="ctr"/>
          <a:lstStyle/>
          <a:p>
            <a:pPr marL="0" indent="0">
              <a:lnSpc>
                <a:spcPct val="95000"/>
              </a:lnSpc>
              <a:buNone/>
            </a:pPr>
            <a:r>
              <a:rPr lang="en-US" sz="1400" i="1">
                <a:latin typeface="Calibri" pitchFamily="34" charset="0"/>
                <a:ea typeface="Calibri" pitchFamily="34" charset="-122"/>
                <a:cs typeface="Calibri" pitchFamily="34" charset="-120"/>
              </a:rPr>
              <a:t>We  learned that the patients those who cannot afford to visit a private hospitals</a:t>
            </a:r>
          </a:p>
          <a:p>
            <a:pPr marL="0" indent="0">
              <a:lnSpc>
                <a:spcPct val="95000"/>
              </a:lnSpc>
              <a:buNone/>
            </a:pPr>
            <a:r>
              <a:rPr lang="en-US" sz="1400" i="1">
                <a:latin typeface="Calibri" pitchFamily="34" charset="0"/>
                <a:ea typeface="Calibri" pitchFamily="34" charset="-122"/>
                <a:cs typeface="Calibri" pitchFamily="34" charset="-120"/>
              </a:rPr>
              <a:t>Are the majority people who go to the government hospitals. But due to the lack of systematical- infrastructure  they  face difficulties  in their day-to-day life.</a:t>
            </a:r>
          </a:p>
          <a:p>
            <a:pPr marL="0" indent="0">
              <a:lnSpc>
                <a:spcPct val="95000"/>
              </a:lnSpc>
              <a:buNone/>
            </a:pPr>
            <a:r>
              <a:rPr lang="en-US" sz="1400" i="1">
                <a:solidFill>
                  <a:srgbClr val="8A93A8"/>
                </a:solidFill>
                <a:latin typeface="Calibri" pitchFamily="34" charset="0"/>
                <a:ea typeface="Calibri" pitchFamily="34" charset="-122"/>
                <a:cs typeface="Calibri" pitchFamily="34" charset="-120"/>
              </a:rPr>
              <a:t>.</a:t>
            </a:r>
            <a:endParaRPr lang="en-US" sz="1400"/>
          </a:p>
        </p:txBody>
      </p:sp>
      <p:sp>
        <p:nvSpPr>
          <p:cNvPr id="16" name="Shape 11"/>
          <p:cNvSpPr/>
          <p:nvPr/>
        </p:nvSpPr>
        <p:spPr>
          <a:xfrm>
            <a:off x="7117080" y="4422972"/>
            <a:ext cx="4572000" cy="1783080"/>
          </a:xfrm>
          <a:prstGeom prst="roundRect">
            <a:avLst>
              <a:gd name="adj" fmla="val 3590"/>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7" name="Text 12"/>
          <p:cNvSpPr/>
          <p:nvPr/>
        </p:nvSpPr>
        <p:spPr>
          <a:xfrm>
            <a:off x="7299960" y="4483770"/>
            <a:ext cx="4206240"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What surprised us</a:t>
            </a:r>
            <a:endParaRPr lang="en-US" sz="1350"/>
          </a:p>
        </p:txBody>
      </p:sp>
      <p:sp>
        <p:nvSpPr>
          <p:cNvPr id="18" name="Text 13"/>
          <p:cNvSpPr/>
          <p:nvPr/>
        </p:nvSpPr>
        <p:spPr>
          <a:xfrm>
            <a:off x="7299960" y="5074920"/>
            <a:ext cx="4206240" cy="457200"/>
          </a:xfrm>
          <a:prstGeom prst="rect">
            <a:avLst/>
          </a:prstGeom>
          <a:noFill/>
          <a:ln/>
        </p:spPr>
        <p:txBody>
          <a:bodyPr wrap="square" lIns="0" tIns="0" rIns="0" bIns="0" rtlCol="0" anchor="ctr"/>
          <a:lstStyle/>
          <a:p>
            <a:pPr marL="0" indent="0">
              <a:lnSpc>
                <a:spcPct val="95000"/>
              </a:lnSpc>
              <a:buNone/>
            </a:pPr>
            <a:r>
              <a:rPr lang="en-US" sz="1400" i="1">
                <a:latin typeface="Calibri" pitchFamily="34" charset="0"/>
                <a:ea typeface="Calibri" pitchFamily="34" charset="-122"/>
                <a:cs typeface="Calibri" pitchFamily="34" charset="-120"/>
              </a:rPr>
              <a:t>The thing surprised us was the patients were waiting meaninglessly for several hours without knowing the exact time of appointment wasting their valuable time .</a:t>
            </a:r>
          </a:p>
          <a:p>
            <a:pPr marL="0" indent="0">
              <a:lnSpc>
                <a:spcPct val="95000"/>
              </a:lnSpc>
              <a:buNone/>
            </a:pPr>
            <a:r>
              <a:rPr lang="en-US" sz="1400" i="1">
                <a:latin typeface="Calibri" pitchFamily="34" charset="0"/>
                <a:ea typeface="Calibri" pitchFamily="34" charset="-122"/>
                <a:cs typeface="Calibri" pitchFamily="34" charset="-120"/>
              </a:rPr>
              <a:t>The mental stress and severity of the illness increases due to the overcrowding.</a:t>
            </a:r>
            <a:endParaRPr lang="en-US" sz="1400"/>
          </a:p>
        </p:txBody>
      </p:sp>
      <p:sp>
        <p:nvSpPr>
          <p:cNvPr id="19" name="Text 14"/>
          <p:cNvSpPr/>
          <p:nvPr/>
        </p:nvSpPr>
        <p:spPr>
          <a:xfrm>
            <a:off x="502920" y="6455664"/>
            <a:ext cx="8229600" cy="274320"/>
          </a:xfrm>
          <a:prstGeom prst="rect">
            <a:avLst/>
          </a:prstGeom>
          <a:noFill/>
          <a:ln/>
        </p:spPr>
        <p:txBody>
          <a:bodyPr wrap="square" lIns="0" tIns="0" rIns="0" bIns="0" rtlCol="0" anchor="ctr"/>
          <a:lstStyle/>
          <a:p>
            <a:pPr marL="0" indent="0">
              <a:buNone/>
            </a:pPr>
            <a:r>
              <a:rPr lang="en-US" sz="900">
                <a:solidFill>
                  <a:srgbClr val="AAB2C5"/>
                </a:solidFill>
                <a:latin typeface="Calibri" pitchFamily="34" charset="0"/>
                <a:ea typeface="Calibri" pitchFamily="34" charset="-122"/>
                <a:cs typeface="Calibri" pitchFamily="34" charset="-120"/>
              </a:rPr>
              <a:t>Sri Eshwar College of Engineering  ·  Design Thinking &amp; Innovation</a:t>
            </a:r>
            <a:endParaRPr lang="en-US" sz="900"/>
          </a:p>
        </p:txBody>
      </p:sp>
      <p:pic>
        <p:nvPicPr>
          <p:cNvPr id="21" name="Picture 20">
            <a:extLst>
              <a:ext uri="{FF2B5EF4-FFF2-40B4-BE49-F238E27FC236}">
                <a16:creationId xmlns:a16="http://schemas.microsoft.com/office/drawing/2014/main" id="{02C7C975-679B-7B79-370E-03D825CB3903}"/>
              </a:ext>
            </a:extLst>
          </p:cNvPr>
          <p:cNvPicPr>
            <a:picLocks noChangeAspect="1"/>
          </p:cNvPicPr>
          <p:nvPr/>
        </p:nvPicPr>
        <p:blipFill>
          <a:blip r:embed="rId6"/>
          <a:stretch>
            <a:fillRect/>
          </a:stretch>
        </p:blipFill>
        <p:spPr>
          <a:xfrm>
            <a:off x="10363654" y="371776"/>
            <a:ext cx="1325426" cy="6035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a:solidFill>
                  <a:srgbClr val="071A45"/>
                </a:solidFill>
                <a:latin typeface="Calibri" pitchFamily="34" charset="0"/>
                <a:ea typeface="Calibri" pitchFamily="34" charset="-122"/>
                <a:cs typeface="Calibri" pitchFamily="34" charset="-120"/>
              </a:rPr>
              <a:t>Empathy Map Canvas</a:t>
            </a:r>
            <a:endParaRPr lang="en-US" sz="2900"/>
          </a:p>
        </p:txBody>
      </p:sp>
      <p:sp>
        <p:nvSpPr>
          <p:cNvPr id="5" name="Text 1"/>
          <p:cNvSpPr/>
          <p:nvPr/>
        </p:nvSpPr>
        <p:spPr>
          <a:xfrm>
            <a:off x="505060" y="1495044"/>
            <a:ext cx="2651760" cy="292608"/>
          </a:xfrm>
          <a:prstGeom prst="rect">
            <a:avLst/>
          </a:prstGeom>
          <a:noFill/>
          <a:ln/>
        </p:spPr>
        <p:txBody>
          <a:bodyPr wrap="square" lIns="0" tIns="0" rIns="0" bIns="0" rtlCol="0" anchor="ctr"/>
          <a:lstStyle/>
          <a:p>
            <a:pPr marL="0" indent="0">
              <a:buNone/>
            </a:pPr>
            <a:r>
              <a:rPr lang="en-US" sz="1050" b="1">
                <a:solidFill>
                  <a:srgbClr val="071A45"/>
                </a:solidFill>
                <a:latin typeface="Calibri" pitchFamily="34" charset="0"/>
                <a:ea typeface="Calibri" pitchFamily="34" charset="-122"/>
                <a:cs typeface="Calibri" pitchFamily="34" charset="-120"/>
              </a:rPr>
              <a:t>Designed for:  </a:t>
            </a:r>
            <a:r>
              <a:rPr lang="en-US" sz="1050" i="1">
                <a:solidFill>
                  <a:srgbClr val="8A93A8"/>
                </a:solidFill>
                <a:latin typeface="Calibri" pitchFamily="34" charset="0"/>
                <a:ea typeface="Calibri" pitchFamily="34" charset="-122"/>
                <a:cs typeface="Calibri" pitchFamily="34" charset="-120"/>
              </a:rPr>
              <a:t>[ Patients of Govt. Hospitals and Doctors]</a:t>
            </a:r>
            <a:endParaRPr lang="en-US" sz="1050"/>
          </a:p>
        </p:txBody>
      </p:sp>
      <p:sp>
        <p:nvSpPr>
          <p:cNvPr id="6" name="Text 2"/>
          <p:cNvSpPr/>
          <p:nvPr/>
        </p:nvSpPr>
        <p:spPr>
          <a:xfrm>
            <a:off x="3291840" y="1426464"/>
            <a:ext cx="2651760" cy="292608"/>
          </a:xfrm>
          <a:prstGeom prst="rect">
            <a:avLst/>
          </a:prstGeom>
          <a:noFill/>
          <a:ln/>
        </p:spPr>
        <p:txBody>
          <a:bodyPr wrap="square" lIns="0" tIns="0" rIns="0" bIns="0" rtlCol="0" anchor="ctr"/>
          <a:lstStyle/>
          <a:p>
            <a:pPr marL="0" indent="0">
              <a:buNone/>
            </a:pPr>
            <a:r>
              <a:rPr lang="en-US" sz="1050" b="1">
                <a:solidFill>
                  <a:srgbClr val="071A45"/>
                </a:solidFill>
                <a:latin typeface="Calibri" pitchFamily="34" charset="0"/>
                <a:ea typeface="Calibri" pitchFamily="34" charset="-122"/>
                <a:cs typeface="Calibri" pitchFamily="34" charset="-120"/>
              </a:rPr>
              <a:t>Designed by:  </a:t>
            </a:r>
            <a:r>
              <a:rPr lang="en-US" sz="1050" i="1">
                <a:solidFill>
                  <a:srgbClr val="8A93A8"/>
                </a:solidFill>
                <a:latin typeface="Calibri" pitchFamily="34" charset="0"/>
                <a:ea typeface="Calibri" pitchFamily="34" charset="-122"/>
                <a:cs typeface="Calibri" pitchFamily="34" charset="-120"/>
              </a:rPr>
              <a:t>[ JUSTINOV ]</a:t>
            </a:r>
            <a:endParaRPr lang="en-US" sz="1050"/>
          </a:p>
        </p:txBody>
      </p:sp>
      <p:sp>
        <p:nvSpPr>
          <p:cNvPr id="7" name="Text 3"/>
          <p:cNvSpPr/>
          <p:nvPr/>
        </p:nvSpPr>
        <p:spPr>
          <a:xfrm>
            <a:off x="6766560" y="1426464"/>
            <a:ext cx="2194560" cy="292608"/>
          </a:xfrm>
          <a:prstGeom prst="rect">
            <a:avLst/>
          </a:prstGeom>
          <a:noFill/>
          <a:ln/>
        </p:spPr>
        <p:txBody>
          <a:bodyPr wrap="square" lIns="0" tIns="0" rIns="0" bIns="0" rtlCol="0" anchor="ctr"/>
          <a:lstStyle/>
          <a:p>
            <a:pPr marL="0" indent="0">
              <a:buNone/>
            </a:pPr>
            <a:r>
              <a:rPr lang="en-US" sz="1050" b="1">
                <a:solidFill>
                  <a:srgbClr val="071A45"/>
                </a:solidFill>
                <a:latin typeface="Calibri" pitchFamily="34" charset="0"/>
                <a:ea typeface="Calibri" pitchFamily="34" charset="-122"/>
                <a:cs typeface="Calibri" pitchFamily="34" charset="-120"/>
              </a:rPr>
              <a:t>Date:  </a:t>
            </a:r>
            <a:r>
              <a:rPr lang="en-US" sz="1050" i="1">
                <a:solidFill>
                  <a:srgbClr val="8A93A8"/>
                </a:solidFill>
                <a:latin typeface="Calibri" pitchFamily="34" charset="0"/>
                <a:ea typeface="Calibri" pitchFamily="34" charset="-122"/>
                <a:cs typeface="Calibri" pitchFamily="34" charset="-120"/>
              </a:rPr>
              <a:t>[ 6</a:t>
            </a:r>
            <a:r>
              <a:rPr lang="en-US" sz="1050" i="1" baseline="30000">
                <a:solidFill>
                  <a:srgbClr val="8A93A8"/>
                </a:solidFill>
                <a:latin typeface="Calibri" pitchFamily="34" charset="0"/>
                <a:ea typeface="Calibri" pitchFamily="34" charset="-122"/>
                <a:cs typeface="Calibri" pitchFamily="34" charset="-120"/>
              </a:rPr>
              <a:t>th</a:t>
            </a:r>
            <a:r>
              <a:rPr lang="en-US" sz="1050" i="1">
                <a:solidFill>
                  <a:srgbClr val="8A93A8"/>
                </a:solidFill>
                <a:latin typeface="Calibri" pitchFamily="34" charset="0"/>
                <a:ea typeface="Calibri" pitchFamily="34" charset="-122"/>
                <a:cs typeface="Calibri" pitchFamily="34" charset="-120"/>
              </a:rPr>
              <a:t> July 2026]</a:t>
            </a:r>
            <a:endParaRPr lang="en-US" sz="1050"/>
          </a:p>
        </p:txBody>
      </p:sp>
      <p:sp>
        <p:nvSpPr>
          <p:cNvPr id="8" name="Text 4"/>
          <p:cNvSpPr/>
          <p:nvPr/>
        </p:nvSpPr>
        <p:spPr>
          <a:xfrm>
            <a:off x="9098280" y="1426464"/>
            <a:ext cx="2542032" cy="292608"/>
          </a:xfrm>
          <a:prstGeom prst="rect">
            <a:avLst/>
          </a:prstGeom>
          <a:noFill/>
          <a:ln/>
        </p:spPr>
        <p:txBody>
          <a:bodyPr wrap="square" lIns="0" tIns="0" rIns="0" bIns="0" rtlCol="0" anchor="ctr"/>
          <a:lstStyle/>
          <a:p>
            <a:pPr marL="0" indent="0">
              <a:buNone/>
            </a:pPr>
            <a:r>
              <a:rPr lang="en-US" sz="1050" b="1">
                <a:solidFill>
                  <a:srgbClr val="071A45"/>
                </a:solidFill>
                <a:latin typeface="Calibri" pitchFamily="34" charset="0"/>
                <a:ea typeface="Calibri" pitchFamily="34" charset="-122"/>
                <a:cs typeface="Calibri" pitchFamily="34" charset="-120"/>
              </a:rPr>
              <a:t>Version:  </a:t>
            </a:r>
            <a:r>
              <a:rPr lang="en-US" sz="1050" i="1">
                <a:solidFill>
                  <a:srgbClr val="8A93A8"/>
                </a:solidFill>
                <a:latin typeface="Calibri" pitchFamily="34" charset="0"/>
                <a:ea typeface="Calibri" pitchFamily="34" charset="-122"/>
                <a:cs typeface="Calibri" pitchFamily="34" charset="-120"/>
              </a:rPr>
              <a:t>[ v1.0]</a:t>
            </a:r>
            <a:endParaRPr lang="en-US" sz="1050"/>
          </a:p>
        </p:txBody>
      </p:sp>
      <p:sp>
        <p:nvSpPr>
          <p:cNvPr id="9" name="Shape 5"/>
          <p:cNvSpPr/>
          <p:nvPr/>
        </p:nvSpPr>
        <p:spPr>
          <a:xfrm>
            <a:off x="5541264" y="1737360"/>
            <a:ext cx="1097280" cy="292608"/>
          </a:xfrm>
          <a:prstGeom prst="roundRect">
            <a:avLst>
              <a:gd name="adj" fmla="val 50000"/>
            </a:avLst>
          </a:prstGeom>
          <a:solidFill>
            <a:srgbClr val="FFC01E"/>
          </a:solidFill>
          <a:ln/>
        </p:spPr>
      </p:sp>
      <p:sp>
        <p:nvSpPr>
          <p:cNvPr id="10" name="Text 6"/>
          <p:cNvSpPr/>
          <p:nvPr/>
        </p:nvSpPr>
        <p:spPr>
          <a:xfrm>
            <a:off x="5541264" y="1737360"/>
            <a:ext cx="1097280" cy="292608"/>
          </a:xfrm>
          <a:prstGeom prst="rect">
            <a:avLst/>
          </a:prstGeom>
          <a:noFill/>
          <a:ln/>
        </p:spPr>
        <p:txBody>
          <a:bodyPr wrap="square" lIns="0" tIns="0" rIns="0" bIns="0" rtlCol="0" anchor="ctr"/>
          <a:lstStyle/>
          <a:p>
            <a:pPr marL="0" indent="0" algn="ctr">
              <a:buNone/>
            </a:pPr>
            <a:r>
              <a:rPr lang="en-US" sz="1200" b="1" kern="0" spc="100">
                <a:solidFill>
                  <a:srgbClr val="071A45"/>
                </a:solidFill>
                <a:latin typeface="Calibri" pitchFamily="34" charset="0"/>
                <a:ea typeface="Calibri" pitchFamily="34" charset="-122"/>
                <a:cs typeface="Calibri" pitchFamily="34" charset="-120"/>
              </a:rPr>
              <a:t>GOAL</a:t>
            </a:r>
            <a:endParaRPr lang="en-US" sz="1200"/>
          </a:p>
        </p:txBody>
      </p:sp>
      <p:sp>
        <p:nvSpPr>
          <p:cNvPr id="11" name="Shape 7"/>
          <p:cNvSpPr/>
          <p:nvPr/>
        </p:nvSpPr>
        <p:spPr>
          <a:xfrm>
            <a:off x="502920" y="2103120"/>
            <a:ext cx="5486400" cy="868680"/>
          </a:xfrm>
          <a:prstGeom prst="roundRect">
            <a:avLst>
              <a:gd name="adj" fmla="val 7368"/>
            </a:avLst>
          </a:prstGeom>
          <a:solidFill>
            <a:srgbClr val="EDEFF5"/>
          </a:solidFill>
          <a:ln w="12700">
            <a:solidFill>
              <a:srgbClr val="DFE4EE"/>
            </a:solidFill>
            <a:prstDash val="solid"/>
          </a:ln>
          <a:effectLst>
            <a:outerShdw blurRad="88900" dist="38100" dir="5400000" algn="bl" rotWithShape="0">
              <a:srgbClr val="071A45">
                <a:alpha val="12000"/>
              </a:srgbClr>
            </a:outerShdw>
          </a:effectLst>
        </p:spPr>
      </p:sp>
      <p:sp>
        <p:nvSpPr>
          <p:cNvPr id="12" name="Shape 8"/>
          <p:cNvSpPr/>
          <p:nvPr/>
        </p:nvSpPr>
        <p:spPr>
          <a:xfrm>
            <a:off x="685800" y="2267712"/>
            <a:ext cx="347472" cy="347472"/>
          </a:xfrm>
          <a:prstGeom prst="ellipse">
            <a:avLst/>
          </a:prstGeom>
          <a:solidFill>
            <a:srgbClr val="FFC01E"/>
          </a:solidFill>
          <a:ln/>
        </p:spPr>
      </p:sp>
      <p:sp>
        <p:nvSpPr>
          <p:cNvPr id="13" name="Text 9"/>
          <p:cNvSpPr/>
          <p:nvPr/>
        </p:nvSpPr>
        <p:spPr>
          <a:xfrm>
            <a:off x="685800" y="2267712"/>
            <a:ext cx="347472" cy="347472"/>
          </a:xfrm>
          <a:prstGeom prst="rect">
            <a:avLst/>
          </a:prstGeom>
          <a:noFill/>
          <a:ln/>
        </p:spPr>
        <p:txBody>
          <a:bodyPr wrap="square" lIns="0" tIns="0" rIns="0" bIns="0" rtlCol="0" anchor="ctr"/>
          <a:lstStyle/>
          <a:p>
            <a:pPr marL="0" indent="0" algn="ctr">
              <a:buNone/>
            </a:pPr>
            <a:r>
              <a:rPr lang="en-US" sz="1400" b="1">
                <a:solidFill>
                  <a:srgbClr val="071A45"/>
                </a:solidFill>
                <a:latin typeface="Calibri" pitchFamily="34" charset="0"/>
                <a:ea typeface="Calibri" pitchFamily="34" charset="-122"/>
                <a:cs typeface="Calibri" pitchFamily="34" charset="-120"/>
              </a:rPr>
              <a:t>1</a:t>
            </a:r>
            <a:endParaRPr lang="en-US" sz="1400"/>
          </a:p>
        </p:txBody>
      </p:sp>
      <p:sp>
        <p:nvSpPr>
          <p:cNvPr id="14" name="Text 10"/>
          <p:cNvSpPr/>
          <p:nvPr/>
        </p:nvSpPr>
        <p:spPr>
          <a:xfrm>
            <a:off x="1179576" y="2249424"/>
            <a:ext cx="4626864"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WHO are we empathizing with?</a:t>
            </a:r>
            <a:endParaRPr lang="en-US" sz="1350"/>
          </a:p>
        </p:txBody>
      </p:sp>
      <p:sp>
        <p:nvSpPr>
          <p:cNvPr id="15" name="Text 11"/>
          <p:cNvSpPr/>
          <p:nvPr/>
        </p:nvSpPr>
        <p:spPr>
          <a:xfrm>
            <a:off x="1156813" y="2432304"/>
            <a:ext cx="4626864" cy="457200"/>
          </a:xfrm>
          <a:prstGeom prst="rect">
            <a:avLst/>
          </a:prstGeom>
          <a:noFill/>
          <a:ln/>
        </p:spPr>
        <p:txBody>
          <a:bodyPr wrap="square" lIns="0" tIns="0" rIns="0" bIns="0" rtlCol="0" anchor="ctr"/>
          <a:lstStyle/>
          <a:p>
            <a:pPr>
              <a:lnSpc>
                <a:spcPct val="95000"/>
              </a:lnSpc>
            </a:pPr>
            <a:r>
              <a:rPr lang="en-IN" sz="1200"/>
              <a:t>Patients visiting government hospitals ,Doctors and hospital management.</a:t>
            </a:r>
            <a:endParaRPr lang="en-US" sz="1200"/>
          </a:p>
        </p:txBody>
      </p:sp>
      <p:sp>
        <p:nvSpPr>
          <p:cNvPr id="16" name="Shape 12"/>
          <p:cNvSpPr/>
          <p:nvPr/>
        </p:nvSpPr>
        <p:spPr>
          <a:xfrm>
            <a:off x="6089904" y="2103120"/>
            <a:ext cx="5486400" cy="868680"/>
          </a:xfrm>
          <a:prstGeom prst="roundRect">
            <a:avLst>
              <a:gd name="adj" fmla="val 7368"/>
            </a:avLst>
          </a:prstGeom>
          <a:solidFill>
            <a:srgbClr val="EDEFF5"/>
          </a:solidFill>
          <a:ln w="12700">
            <a:solidFill>
              <a:srgbClr val="DFE4EE"/>
            </a:solidFill>
            <a:prstDash val="solid"/>
          </a:ln>
          <a:effectLst>
            <a:outerShdw blurRad="88900" dist="38100" dir="5400000" algn="bl" rotWithShape="0">
              <a:srgbClr val="071A45">
                <a:alpha val="12000"/>
              </a:srgbClr>
            </a:outerShdw>
          </a:effectLst>
        </p:spPr>
        <p:txBody>
          <a:bodyPr/>
          <a:lstStyle/>
          <a:p>
            <a:endParaRPr lang="en-IN"/>
          </a:p>
        </p:txBody>
      </p:sp>
      <p:sp>
        <p:nvSpPr>
          <p:cNvPr id="17" name="Shape 13"/>
          <p:cNvSpPr/>
          <p:nvPr/>
        </p:nvSpPr>
        <p:spPr>
          <a:xfrm>
            <a:off x="6396520" y="2221992"/>
            <a:ext cx="347472" cy="347472"/>
          </a:xfrm>
          <a:prstGeom prst="ellipse">
            <a:avLst/>
          </a:prstGeom>
          <a:solidFill>
            <a:srgbClr val="FFC01E"/>
          </a:solidFill>
          <a:ln/>
        </p:spPr>
      </p:sp>
      <p:sp>
        <p:nvSpPr>
          <p:cNvPr id="18" name="Text 14"/>
          <p:cNvSpPr/>
          <p:nvPr/>
        </p:nvSpPr>
        <p:spPr>
          <a:xfrm>
            <a:off x="6382512" y="2267712"/>
            <a:ext cx="347472" cy="347472"/>
          </a:xfrm>
          <a:prstGeom prst="rect">
            <a:avLst/>
          </a:prstGeom>
          <a:noFill/>
          <a:ln/>
        </p:spPr>
        <p:txBody>
          <a:bodyPr wrap="square" lIns="0" tIns="0" rIns="0" bIns="0" rtlCol="0" anchor="ctr"/>
          <a:lstStyle/>
          <a:p>
            <a:pPr marL="0" indent="0" algn="ctr">
              <a:buNone/>
            </a:pPr>
            <a:r>
              <a:rPr lang="en-US" sz="1400" b="1">
                <a:solidFill>
                  <a:srgbClr val="071A45"/>
                </a:solidFill>
                <a:latin typeface="Calibri" pitchFamily="34" charset="0"/>
                <a:ea typeface="Calibri" pitchFamily="34" charset="-122"/>
                <a:cs typeface="Calibri" pitchFamily="34" charset="-120"/>
              </a:rPr>
              <a:t>2</a:t>
            </a:r>
            <a:endParaRPr lang="en-US" sz="1400"/>
          </a:p>
        </p:txBody>
      </p:sp>
      <p:sp>
        <p:nvSpPr>
          <p:cNvPr id="19" name="Text 15"/>
          <p:cNvSpPr/>
          <p:nvPr/>
        </p:nvSpPr>
        <p:spPr>
          <a:xfrm>
            <a:off x="6876288" y="2180941"/>
            <a:ext cx="4626864"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What do they need to DO?</a:t>
            </a:r>
            <a:endParaRPr lang="en-US" sz="1350"/>
          </a:p>
        </p:txBody>
      </p:sp>
      <p:sp>
        <p:nvSpPr>
          <p:cNvPr id="20" name="Text 16"/>
          <p:cNvSpPr/>
          <p:nvPr/>
        </p:nvSpPr>
        <p:spPr>
          <a:xfrm>
            <a:off x="6876288" y="2560320"/>
            <a:ext cx="4626864" cy="457200"/>
          </a:xfrm>
          <a:prstGeom prst="rect">
            <a:avLst/>
          </a:prstGeom>
          <a:noFill/>
          <a:ln/>
        </p:spPr>
        <p:txBody>
          <a:bodyPr wrap="square" lIns="0" tIns="0" rIns="0" bIns="0" rtlCol="0" anchor="ctr"/>
          <a:lstStyle/>
          <a:p>
            <a:pPr marL="0" indent="0">
              <a:lnSpc>
                <a:spcPct val="95000"/>
              </a:lnSpc>
              <a:buNone/>
            </a:pPr>
            <a:endParaRPr lang="en-US" sz="1000"/>
          </a:p>
        </p:txBody>
      </p:sp>
      <p:sp>
        <p:nvSpPr>
          <p:cNvPr id="21" name="Shape 17"/>
          <p:cNvSpPr/>
          <p:nvPr/>
        </p:nvSpPr>
        <p:spPr>
          <a:xfrm>
            <a:off x="502920" y="3090672"/>
            <a:ext cx="3566160" cy="1225296"/>
          </a:xfrm>
          <a:prstGeom prst="roundRect">
            <a:avLst>
              <a:gd name="adj" fmla="val 522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22" name="Shape 18"/>
          <p:cNvSpPr/>
          <p:nvPr/>
        </p:nvSpPr>
        <p:spPr>
          <a:xfrm>
            <a:off x="685800" y="3255264"/>
            <a:ext cx="347472" cy="347472"/>
          </a:xfrm>
          <a:prstGeom prst="ellipse">
            <a:avLst/>
          </a:prstGeom>
          <a:solidFill>
            <a:srgbClr val="FFC01E"/>
          </a:solidFill>
          <a:ln/>
        </p:spPr>
      </p:sp>
      <p:sp>
        <p:nvSpPr>
          <p:cNvPr id="23" name="Text 19"/>
          <p:cNvSpPr/>
          <p:nvPr/>
        </p:nvSpPr>
        <p:spPr>
          <a:xfrm>
            <a:off x="685800" y="3255264"/>
            <a:ext cx="347472" cy="347472"/>
          </a:xfrm>
          <a:prstGeom prst="rect">
            <a:avLst/>
          </a:prstGeom>
          <a:noFill/>
          <a:ln/>
        </p:spPr>
        <p:txBody>
          <a:bodyPr wrap="square" lIns="0" tIns="0" rIns="0" bIns="0" rtlCol="0" anchor="ctr"/>
          <a:lstStyle/>
          <a:p>
            <a:pPr marL="0" indent="0" algn="ctr">
              <a:buNone/>
            </a:pPr>
            <a:r>
              <a:rPr lang="en-US" sz="1400" b="1">
                <a:solidFill>
                  <a:srgbClr val="071A45"/>
                </a:solidFill>
                <a:latin typeface="Calibri" pitchFamily="34" charset="0"/>
                <a:ea typeface="Calibri" pitchFamily="34" charset="-122"/>
                <a:cs typeface="Calibri" pitchFamily="34" charset="-120"/>
              </a:rPr>
              <a:t>3</a:t>
            </a:r>
            <a:endParaRPr lang="en-US" sz="1400"/>
          </a:p>
        </p:txBody>
      </p:sp>
      <p:sp>
        <p:nvSpPr>
          <p:cNvPr id="24" name="Text 20"/>
          <p:cNvSpPr/>
          <p:nvPr/>
        </p:nvSpPr>
        <p:spPr>
          <a:xfrm>
            <a:off x="1179576" y="3236976"/>
            <a:ext cx="2706624"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What do they SEE?</a:t>
            </a:r>
            <a:endParaRPr lang="en-US" sz="1350"/>
          </a:p>
        </p:txBody>
      </p:sp>
      <p:sp>
        <p:nvSpPr>
          <p:cNvPr id="25" name="Text 21"/>
          <p:cNvSpPr/>
          <p:nvPr/>
        </p:nvSpPr>
        <p:spPr>
          <a:xfrm>
            <a:off x="1078989" y="3619468"/>
            <a:ext cx="2706624" cy="457200"/>
          </a:xfrm>
          <a:prstGeom prst="rect">
            <a:avLst/>
          </a:prstGeom>
          <a:noFill/>
          <a:ln/>
        </p:spPr>
        <p:txBody>
          <a:bodyPr wrap="square" lIns="0" tIns="0" rIns="0" bIns="0" rtlCol="0" anchor="ctr"/>
          <a:lstStyle/>
          <a:p>
            <a:pPr>
              <a:lnSpc>
                <a:spcPct val="95000"/>
              </a:lnSpc>
            </a:pPr>
            <a:r>
              <a:rPr lang="en-US" sz="1200" i="1">
                <a:solidFill>
                  <a:srgbClr val="8A93A8"/>
                </a:solidFill>
                <a:latin typeface="Calibri" pitchFamily="34" charset="0"/>
                <a:ea typeface="Calibri" pitchFamily="34" charset="-122"/>
                <a:cs typeface="Calibri" pitchFamily="34" charset="-120"/>
              </a:rPr>
              <a:t> </a:t>
            </a:r>
            <a:r>
              <a:rPr lang="en-IN" sz="1200"/>
              <a:t>Long queues at registration counters. Crowded waiting areas.</a:t>
            </a:r>
          </a:p>
          <a:p>
            <a:pPr>
              <a:lnSpc>
                <a:spcPct val="95000"/>
              </a:lnSpc>
            </a:pPr>
            <a:r>
              <a:rPr lang="en-IN" sz="1200"/>
              <a:t> Delayed consultation due to manual processes.</a:t>
            </a:r>
            <a:endParaRPr lang="en-US" sz="1200"/>
          </a:p>
        </p:txBody>
      </p:sp>
      <p:sp>
        <p:nvSpPr>
          <p:cNvPr id="26" name="Shape 22"/>
          <p:cNvSpPr/>
          <p:nvPr/>
        </p:nvSpPr>
        <p:spPr>
          <a:xfrm>
            <a:off x="4233672" y="3090672"/>
            <a:ext cx="3566160" cy="1225296"/>
          </a:xfrm>
          <a:prstGeom prst="roundRect">
            <a:avLst>
              <a:gd name="adj" fmla="val 522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27" name="Shape 23"/>
          <p:cNvSpPr/>
          <p:nvPr/>
        </p:nvSpPr>
        <p:spPr>
          <a:xfrm>
            <a:off x="4416552" y="3255264"/>
            <a:ext cx="347472" cy="347472"/>
          </a:xfrm>
          <a:prstGeom prst="ellipse">
            <a:avLst/>
          </a:prstGeom>
          <a:solidFill>
            <a:srgbClr val="FFC01E"/>
          </a:solidFill>
          <a:ln/>
        </p:spPr>
      </p:sp>
      <p:sp>
        <p:nvSpPr>
          <p:cNvPr id="28" name="Text 24"/>
          <p:cNvSpPr/>
          <p:nvPr/>
        </p:nvSpPr>
        <p:spPr>
          <a:xfrm>
            <a:off x="4416552" y="3255264"/>
            <a:ext cx="347472" cy="347472"/>
          </a:xfrm>
          <a:prstGeom prst="rect">
            <a:avLst/>
          </a:prstGeom>
          <a:noFill/>
          <a:ln/>
        </p:spPr>
        <p:txBody>
          <a:bodyPr wrap="square" lIns="0" tIns="0" rIns="0" bIns="0" rtlCol="0" anchor="ctr"/>
          <a:lstStyle/>
          <a:p>
            <a:pPr marL="0" indent="0" algn="ctr">
              <a:buNone/>
            </a:pPr>
            <a:r>
              <a:rPr lang="en-US" sz="1400" b="1">
                <a:solidFill>
                  <a:srgbClr val="071A45"/>
                </a:solidFill>
                <a:latin typeface="Calibri" pitchFamily="34" charset="0"/>
                <a:ea typeface="Calibri" pitchFamily="34" charset="-122"/>
                <a:cs typeface="Calibri" pitchFamily="34" charset="-120"/>
              </a:rPr>
              <a:t>4</a:t>
            </a:r>
            <a:endParaRPr lang="en-US" sz="1400"/>
          </a:p>
        </p:txBody>
      </p:sp>
      <p:sp>
        <p:nvSpPr>
          <p:cNvPr id="29" name="Text 25"/>
          <p:cNvSpPr/>
          <p:nvPr/>
        </p:nvSpPr>
        <p:spPr>
          <a:xfrm>
            <a:off x="4910328" y="3236976"/>
            <a:ext cx="2706624"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What do they SAY?</a:t>
            </a:r>
            <a:endParaRPr lang="en-US" sz="1350"/>
          </a:p>
        </p:txBody>
      </p:sp>
      <p:sp>
        <p:nvSpPr>
          <p:cNvPr id="30" name="Text 26"/>
          <p:cNvSpPr/>
          <p:nvPr/>
        </p:nvSpPr>
        <p:spPr>
          <a:xfrm>
            <a:off x="4910328" y="3547872"/>
            <a:ext cx="2706624" cy="457200"/>
          </a:xfrm>
          <a:prstGeom prst="rect">
            <a:avLst/>
          </a:prstGeom>
          <a:noFill/>
          <a:ln/>
        </p:spPr>
        <p:txBody>
          <a:bodyPr wrap="square" lIns="0" tIns="0" rIns="0" bIns="0" rtlCol="0" anchor="ctr"/>
          <a:lstStyle/>
          <a:p>
            <a:pPr marL="0" indent="0">
              <a:lnSpc>
                <a:spcPct val="95000"/>
              </a:lnSpc>
              <a:buNone/>
            </a:pPr>
            <a:endParaRPr lang="en-US" sz="1000"/>
          </a:p>
        </p:txBody>
      </p:sp>
      <p:sp>
        <p:nvSpPr>
          <p:cNvPr id="31" name="Shape 27"/>
          <p:cNvSpPr/>
          <p:nvPr/>
        </p:nvSpPr>
        <p:spPr>
          <a:xfrm>
            <a:off x="7964424" y="3090672"/>
            <a:ext cx="3566160" cy="1225296"/>
          </a:xfrm>
          <a:prstGeom prst="roundRect">
            <a:avLst>
              <a:gd name="adj" fmla="val 5224"/>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32" name="Shape 28"/>
          <p:cNvSpPr/>
          <p:nvPr/>
        </p:nvSpPr>
        <p:spPr>
          <a:xfrm>
            <a:off x="8147304" y="3255264"/>
            <a:ext cx="347472" cy="347472"/>
          </a:xfrm>
          <a:prstGeom prst="ellipse">
            <a:avLst/>
          </a:prstGeom>
          <a:solidFill>
            <a:srgbClr val="FFC01E"/>
          </a:solidFill>
          <a:ln/>
        </p:spPr>
      </p:sp>
      <p:sp>
        <p:nvSpPr>
          <p:cNvPr id="33" name="Text 29"/>
          <p:cNvSpPr/>
          <p:nvPr/>
        </p:nvSpPr>
        <p:spPr>
          <a:xfrm>
            <a:off x="8147304" y="3255264"/>
            <a:ext cx="347472" cy="347472"/>
          </a:xfrm>
          <a:prstGeom prst="rect">
            <a:avLst/>
          </a:prstGeom>
          <a:noFill/>
          <a:ln/>
        </p:spPr>
        <p:txBody>
          <a:bodyPr wrap="square" lIns="0" tIns="0" rIns="0" bIns="0" rtlCol="0" anchor="ctr"/>
          <a:lstStyle/>
          <a:p>
            <a:pPr marL="0" indent="0" algn="ctr">
              <a:buNone/>
            </a:pPr>
            <a:r>
              <a:rPr lang="en-US" sz="1400" b="1">
                <a:solidFill>
                  <a:srgbClr val="071A45"/>
                </a:solidFill>
                <a:latin typeface="Calibri" pitchFamily="34" charset="0"/>
                <a:ea typeface="Calibri" pitchFamily="34" charset="-122"/>
                <a:cs typeface="Calibri" pitchFamily="34" charset="-120"/>
              </a:rPr>
              <a:t>5</a:t>
            </a:r>
            <a:endParaRPr lang="en-US" sz="1400"/>
          </a:p>
        </p:txBody>
      </p:sp>
      <p:sp>
        <p:nvSpPr>
          <p:cNvPr id="34" name="Text 30"/>
          <p:cNvSpPr/>
          <p:nvPr/>
        </p:nvSpPr>
        <p:spPr>
          <a:xfrm>
            <a:off x="8641080" y="3236976"/>
            <a:ext cx="2706624"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What do they DO?</a:t>
            </a:r>
            <a:endParaRPr lang="en-US" sz="1350"/>
          </a:p>
        </p:txBody>
      </p:sp>
      <p:sp>
        <p:nvSpPr>
          <p:cNvPr id="35" name="Text 31"/>
          <p:cNvSpPr/>
          <p:nvPr/>
        </p:nvSpPr>
        <p:spPr>
          <a:xfrm>
            <a:off x="8641080" y="3602736"/>
            <a:ext cx="2706624" cy="457200"/>
          </a:xfrm>
          <a:prstGeom prst="rect">
            <a:avLst/>
          </a:prstGeom>
          <a:noFill/>
          <a:ln/>
        </p:spPr>
        <p:txBody>
          <a:bodyPr wrap="square" lIns="0" tIns="0" rIns="0" bIns="0" rtlCol="0" anchor="ctr"/>
          <a:lstStyle/>
          <a:p>
            <a:pPr>
              <a:lnSpc>
                <a:spcPct val="95000"/>
              </a:lnSpc>
            </a:pPr>
            <a:r>
              <a:rPr lang="en-IN" sz="1200"/>
              <a:t>Visit the hospital early to get a token. </a:t>
            </a:r>
          </a:p>
          <a:p>
            <a:pPr>
              <a:lnSpc>
                <a:spcPct val="95000"/>
              </a:lnSpc>
            </a:pPr>
            <a:r>
              <a:rPr lang="en-IN" sz="1200"/>
              <a:t>Stand in long queues.</a:t>
            </a:r>
          </a:p>
          <a:p>
            <a:pPr>
              <a:lnSpc>
                <a:spcPct val="95000"/>
              </a:lnSpc>
            </a:pPr>
            <a:r>
              <a:rPr lang="en-IN" sz="1200"/>
              <a:t> Ask hospital staff for appointment details. Wait for their turn.</a:t>
            </a:r>
            <a:endParaRPr lang="en-US" sz="1200"/>
          </a:p>
        </p:txBody>
      </p:sp>
      <p:sp>
        <p:nvSpPr>
          <p:cNvPr id="36" name="Shape 32"/>
          <p:cNvSpPr/>
          <p:nvPr/>
        </p:nvSpPr>
        <p:spPr>
          <a:xfrm>
            <a:off x="502920" y="4434840"/>
            <a:ext cx="3566160" cy="1298448"/>
          </a:xfrm>
          <a:prstGeom prst="roundRect">
            <a:avLst>
              <a:gd name="adj" fmla="val 4930"/>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37" name="Shape 33"/>
          <p:cNvSpPr/>
          <p:nvPr/>
        </p:nvSpPr>
        <p:spPr>
          <a:xfrm>
            <a:off x="685800" y="4599432"/>
            <a:ext cx="347472" cy="347472"/>
          </a:xfrm>
          <a:prstGeom prst="ellipse">
            <a:avLst/>
          </a:prstGeom>
          <a:solidFill>
            <a:srgbClr val="FFC01E"/>
          </a:solidFill>
          <a:ln/>
        </p:spPr>
      </p:sp>
      <p:sp>
        <p:nvSpPr>
          <p:cNvPr id="38" name="Text 34"/>
          <p:cNvSpPr/>
          <p:nvPr/>
        </p:nvSpPr>
        <p:spPr>
          <a:xfrm>
            <a:off x="685800" y="4599432"/>
            <a:ext cx="347472" cy="347472"/>
          </a:xfrm>
          <a:prstGeom prst="rect">
            <a:avLst/>
          </a:prstGeom>
          <a:noFill/>
          <a:ln/>
        </p:spPr>
        <p:txBody>
          <a:bodyPr wrap="square" lIns="0" tIns="0" rIns="0" bIns="0" rtlCol="0" anchor="ctr"/>
          <a:lstStyle/>
          <a:p>
            <a:pPr marL="0" indent="0" algn="ctr">
              <a:buNone/>
            </a:pPr>
            <a:r>
              <a:rPr lang="en-US" sz="1400" b="1">
                <a:solidFill>
                  <a:srgbClr val="071A45"/>
                </a:solidFill>
                <a:latin typeface="Calibri" pitchFamily="34" charset="0"/>
                <a:ea typeface="Calibri" pitchFamily="34" charset="-122"/>
                <a:cs typeface="Calibri" pitchFamily="34" charset="-120"/>
              </a:rPr>
              <a:t>6</a:t>
            </a:r>
            <a:endParaRPr lang="en-US" sz="1400"/>
          </a:p>
        </p:txBody>
      </p:sp>
      <p:sp>
        <p:nvSpPr>
          <p:cNvPr id="39" name="Text 35"/>
          <p:cNvSpPr/>
          <p:nvPr/>
        </p:nvSpPr>
        <p:spPr>
          <a:xfrm>
            <a:off x="1179576" y="4581144"/>
            <a:ext cx="2706624"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What do they HEAR?</a:t>
            </a:r>
            <a:endParaRPr lang="en-US" sz="1350"/>
          </a:p>
        </p:txBody>
      </p:sp>
      <p:sp>
        <p:nvSpPr>
          <p:cNvPr id="40" name="Text 36"/>
          <p:cNvSpPr/>
          <p:nvPr/>
        </p:nvSpPr>
        <p:spPr>
          <a:xfrm>
            <a:off x="1179576" y="4892040"/>
            <a:ext cx="2706624" cy="457200"/>
          </a:xfrm>
          <a:prstGeom prst="rect">
            <a:avLst/>
          </a:prstGeom>
          <a:noFill/>
          <a:ln/>
        </p:spPr>
        <p:txBody>
          <a:bodyPr wrap="square" lIns="0" tIns="0" rIns="0" bIns="0" rtlCol="0" anchor="ctr"/>
          <a:lstStyle/>
          <a:p>
            <a:pPr>
              <a:lnSpc>
                <a:spcPct val="95000"/>
              </a:lnSpc>
            </a:pPr>
            <a:r>
              <a:rPr lang="en-IN" sz="1200"/>
              <a:t>“Come early if you want a token." </a:t>
            </a:r>
          </a:p>
          <a:p>
            <a:pPr>
              <a:lnSpc>
                <a:spcPct val="95000"/>
              </a:lnSpc>
            </a:pPr>
            <a:r>
              <a:rPr lang="en-IN" sz="1200"/>
              <a:t>"The doctor is not available today.“</a:t>
            </a:r>
          </a:p>
          <a:p>
            <a:pPr>
              <a:lnSpc>
                <a:spcPct val="95000"/>
              </a:lnSpc>
            </a:pPr>
            <a:r>
              <a:rPr lang="en-IN" sz="1200"/>
              <a:t> "Please wait for your number."</a:t>
            </a:r>
            <a:endParaRPr lang="en-US" sz="1200"/>
          </a:p>
        </p:txBody>
      </p:sp>
      <p:sp>
        <p:nvSpPr>
          <p:cNvPr id="41" name="Shape 37"/>
          <p:cNvSpPr/>
          <p:nvPr/>
        </p:nvSpPr>
        <p:spPr>
          <a:xfrm>
            <a:off x="4233672" y="4434840"/>
            <a:ext cx="7296912" cy="1298448"/>
          </a:xfrm>
          <a:prstGeom prst="roundRect">
            <a:avLst>
              <a:gd name="adj" fmla="val 4930"/>
            </a:avLst>
          </a:prstGeom>
          <a:solidFill>
            <a:srgbClr val="FFF1F1"/>
          </a:solidFill>
          <a:ln w="12700">
            <a:solidFill>
              <a:srgbClr val="F0C9C9"/>
            </a:solidFill>
            <a:prstDash val="solid"/>
          </a:ln>
          <a:effectLst>
            <a:outerShdw blurRad="88900" dist="38100" dir="5400000" algn="bl" rotWithShape="0">
              <a:srgbClr val="071A45">
                <a:alpha val="12000"/>
              </a:srgbClr>
            </a:outerShdw>
          </a:effectLst>
        </p:spPr>
      </p:sp>
      <p:sp>
        <p:nvSpPr>
          <p:cNvPr id="42" name="Shape 38"/>
          <p:cNvSpPr/>
          <p:nvPr/>
        </p:nvSpPr>
        <p:spPr>
          <a:xfrm>
            <a:off x="4416552" y="4581144"/>
            <a:ext cx="347472" cy="347472"/>
          </a:xfrm>
          <a:prstGeom prst="ellipse">
            <a:avLst/>
          </a:prstGeom>
          <a:solidFill>
            <a:srgbClr val="C62828"/>
          </a:solidFill>
          <a:ln/>
        </p:spPr>
      </p:sp>
      <p:sp>
        <p:nvSpPr>
          <p:cNvPr id="43" name="Text 39"/>
          <p:cNvSpPr/>
          <p:nvPr/>
        </p:nvSpPr>
        <p:spPr>
          <a:xfrm>
            <a:off x="4416552" y="4581144"/>
            <a:ext cx="347472" cy="347472"/>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7</a:t>
            </a:r>
            <a:endParaRPr lang="en-US" sz="1400"/>
          </a:p>
        </p:txBody>
      </p:sp>
      <p:sp>
        <p:nvSpPr>
          <p:cNvPr id="44" name="Text 40"/>
          <p:cNvSpPr/>
          <p:nvPr/>
        </p:nvSpPr>
        <p:spPr>
          <a:xfrm>
            <a:off x="4910328" y="4581144"/>
            <a:ext cx="6382512" cy="310896"/>
          </a:xfrm>
          <a:prstGeom prst="rect">
            <a:avLst/>
          </a:prstGeom>
          <a:noFill/>
          <a:ln/>
        </p:spPr>
        <p:txBody>
          <a:bodyPr wrap="square" lIns="0" tIns="0" rIns="0" bIns="0" rtlCol="0" anchor="ctr"/>
          <a:lstStyle/>
          <a:p>
            <a:pPr marL="0" indent="0">
              <a:buNone/>
            </a:pPr>
            <a:r>
              <a:rPr lang="en-US" sz="1350" b="1">
                <a:solidFill>
                  <a:srgbClr val="C62828"/>
                </a:solidFill>
                <a:latin typeface="Calibri" pitchFamily="34" charset="0"/>
                <a:ea typeface="Calibri" pitchFamily="34" charset="-122"/>
                <a:cs typeface="Calibri" pitchFamily="34" charset="-120"/>
              </a:rPr>
              <a:t>What do they THINK and FEEL?</a:t>
            </a:r>
            <a:endParaRPr lang="en-US" sz="1350"/>
          </a:p>
        </p:txBody>
      </p:sp>
      <p:sp>
        <p:nvSpPr>
          <p:cNvPr id="45" name="Text 41"/>
          <p:cNvSpPr/>
          <p:nvPr/>
        </p:nvSpPr>
        <p:spPr>
          <a:xfrm>
            <a:off x="4507992" y="4965192"/>
            <a:ext cx="3282696" cy="274320"/>
          </a:xfrm>
          <a:prstGeom prst="rect">
            <a:avLst/>
          </a:prstGeom>
          <a:noFill/>
          <a:ln/>
        </p:spPr>
        <p:txBody>
          <a:bodyPr wrap="square" lIns="0" tIns="0" rIns="0" bIns="0" rtlCol="0" anchor="ctr"/>
          <a:lstStyle/>
          <a:p>
            <a:r>
              <a:rPr lang="en-US" sz="1050" b="1">
                <a:solidFill>
                  <a:srgbClr val="B23A3A"/>
                </a:solidFill>
                <a:latin typeface="Calibri" pitchFamily="34" charset="0"/>
                <a:ea typeface="Calibri" pitchFamily="34" charset="-122"/>
                <a:cs typeface="Calibri" pitchFamily="34" charset="-120"/>
              </a:rPr>
              <a:t>PAINS </a:t>
            </a:r>
            <a:r>
              <a:rPr lang="en-IN" sz="1200"/>
              <a:t>Frustration due to long waiting times. Anxiety about missing appointments</a:t>
            </a:r>
            <a:r>
              <a:rPr lang="en-IN" sz="1050"/>
              <a:t>.</a:t>
            </a:r>
            <a:endParaRPr lang="en-US" sz="1050"/>
          </a:p>
        </p:txBody>
      </p:sp>
      <p:sp>
        <p:nvSpPr>
          <p:cNvPr id="46" name="Text 42"/>
          <p:cNvSpPr/>
          <p:nvPr/>
        </p:nvSpPr>
        <p:spPr>
          <a:xfrm>
            <a:off x="7973568" y="4965192"/>
            <a:ext cx="3282696" cy="274320"/>
          </a:xfrm>
          <a:prstGeom prst="rect">
            <a:avLst/>
          </a:prstGeom>
          <a:noFill/>
          <a:ln/>
        </p:spPr>
        <p:txBody>
          <a:bodyPr wrap="square" lIns="0" tIns="0" rIns="0" bIns="0" rtlCol="0" anchor="ctr"/>
          <a:lstStyle/>
          <a:p>
            <a:r>
              <a:rPr lang="en-US" sz="1050" b="1">
                <a:solidFill>
                  <a:srgbClr val="2E7D32"/>
                </a:solidFill>
                <a:latin typeface="Calibri" pitchFamily="34" charset="0"/>
                <a:ea typeface="Calibri" pitchFamily="34" charset="-122"/>
                <a:cs typeface="Calibri" pitchFamily="34" charset="-120"/>
              </a:rPr>
              <a:t>GAINS </a:t>
            </a:r>
            <a:r>
              <a:rPr lang="en-IN" sz="1200"/>
              <a:t>Book appointments anytime from anywhere. Reduced waiting time. Instant appointment confirmation</a:t>
            </a:r>
            <a:r>
              <a:rPr lang="en-IN" sz="1050"/>
              <a:t>.</a:t>
            </a:r>
            <a:endParaRPr lang="en-US" sz="1050"/>
          </a:p>
        </p:txBody>
      </p:sp>
      <p:sp>
        <p:nvSpPr>
          <p:cNvPr id="47" name="Shape 43"/>
          <p:cNvSpPr/>
          <p:nvPr/>
        </p:nvSpPr>
        <p:spPr>
          <a:xfrm>
            <a:off x="7882128" y="4946904"/>
            <a:ext cx="0" cy="658368"/>
          </a:xfrm>
          <a:prstGeom prst="line">
            <a:avLst/>
          </a:prstGeom>
          <a:noFill/>
          <a:ln w="12700">
            <a:solidFill>
              <a:srgbClr val="F0C9C9"/>
            </a:solidFill>
            <a:prstDash val="solid"/>
          </a:ln>
        </p:spPr>
      </p:sp>
      <p:sp>
        <p:nvSpPr>
          <p:cNvPr id="48" name="Shape 44"/>
          <p:cNvSpPr/>
          <p:nvPr/>
        </p:nvSpPr>
        <p:spPr>
          <a:xfrm>
            <a:off x="502920" y="5897880"/>
            <a:ext cx="11183112" cy="457200"/>
          </a:xfrm>
          <a:prstGeom prst="roundRect">
            <a:avLst>
              <a:gd name="adj" fmla="val 20000"/>
            </a:avLst>
          </a:prstGeom>
          <a:solidFill>
            <a:srgbClr val="FFF6DD"/>
          </a:solidFill>
          <a:ln w="12700">
            <a:solidFill>
              <a:srgbClr val="F2D98A"/>
            </a:solidFill>
            <a:prstDash val="solid"/>
          </a:ln>
          <a:effectLst>
            <a:outerShdw blurRad="88900" dist="38100" dir="5400000" algn="bl" rotWithShape="0">
              <a:srgbClr val="071A45">
                <a:alpha val="12000"/>
              </a:srgbClr>
            </a:outerShdw>
          </a:effectLst>
        </p:spPr>
      </p:sp>
      <p:sp>
        <p:nvSpPr>
          <p:cNvPr id="49" name="Text 45"/>
          <p:cNvSpPr/>
          <p:nvPr/>
        </p:nvSpPr>
        <p:spPr>
          <a:xfrm>
            <a:off x="777240" y="5897880"/>
            <a:ext cx="10607040" cy="457200"/>
          </a:xfrm>
          <a:prstGeom prst="rect">
            <a:avLst/>
          </a:prstGeom>
          <a:noFill/>
          <a:ln/>
        </p:spPr>
        <p:txBody>
          <a:bodyPr wrap="square" lIns="0" tIns="0" rIns="0" bIns="0" rtlCol="0" anchor="ctr"/>
          <a:lstStyle/>
          <a:p>
            <a:pPr marL="0" indent="0">
              <a:buNone/>
            </a:pPr>
            <a:r>
              <a:rPr lang="en-US" sz="1250" b="1">
                <a:solidFill>
                  <a:srgbClr val="B5891E"/>
                </a:solidFill>
                <a:latin typeface="Calibri" pitchFamily="34" charset="0"/>
                <a:ea typeface="Calibri" pitchFamily="34" charset="-122"/>
                <a:cs typeface="Calibri" pitchFamily="34" charset="-120"/>
              </a:rPr>
              <a:t>▶  </a:t>
            </a:r>
            <a:r>
              <a:rPr lang="en-US" sz="1250" b="1">
                <a:solidFill>
                  <a:srgbClr val="7A5E16"/>
                </a:solidFill>
                <a:latin typeface="Calibri" pitchFamily="34" charset="0"/>
                <a:ea typeface="Calibri" pitchFamily="34" charset="-122"/>
                <a:cs typeface="Calibri" pitchFamily="34" charset="-120"/>
              </a:rPr>
              <a:t>Present your completed Empathy Map to reviewers — fill the canvas above, or paste a photo of your team's map here in this slide.</a:t>
            </a:r>
            <a:endParaRPr lang="en-US" sz="1250"/>
          </a:p>
        </p:txBody>
      </p:sp>
      <p:pic>
        <p:nvPicPr>
          <p:cNvPr id="51" name="Picture 50">
            <a:extLst>
              <a:ext uri="{FF2B5EF4-FFF2-40B4-BE49-F238E27FC236}">
                <a16:creationId xmlns:a16="http://schemas.microsoft.com/office/drawing/2014/main" id="{71BAE965-185F-B3B3-7EA2-193E166371E4}"/>
              </a:ext>
            </a:extLst>
          </p:cNvPr>
          <p:cNvPicPr>
            <a:picLocks noChangeAspect="1"/>
          </p:cNvPicPr>
          <p:nvPr/>
        </p:nvPicPr>
        <p:blipFill>
          <a:blip r:embed="rId4"/>
          <a:stretch>
            <a:fillRect/>
          </a:stretch>
        </p:blipFill>
        <p:spPr>
          <a:xfrm>
            <a:off x="10363654" y="371776"/>
            <a:ext cx="1325426" cy="603504"/>
          </a:xfrm>
          <a:prstGeom prst="rect">
            <a:avLst/>
          </a:prstGeom>
        </p:spPr>
      </p:pic>
      <p:sp>
        <p:nvSpPr>
          <p:cNvPr id="3" name="TextBox 2">
            <a:extLst>
              <a:ext uri="{FF2B5EF4-FFF2-40B4-BE49-F238E27FC236}">
                <a16:creationId xmlns:a16="http://schemas.microsoft.com/office/drawing/2014/main" id="{A165B0D7-F1D9-BA6B-F722-C8506DD433E8}"/>
              </a:ext>
            </a:extLst>
          </p:cNvPr>
          <p:cNvSpPr txBox="1"/>
          <p:nvPr/>
        </p:nvSpPr>
        <p:spPr>
          <a:xfrm>
            <a:off x="6803136" y="2373329"/>
            <a:ext cx="3794955" cy="646331"/>
          </a:xfrm>
          <a:prstGeom prst="rect">
            <a:avLst/>
          </a:prstGeom>
          <a:noFill/>
        </p:spPr>
        <p:txBody>
          <a:bodyPr wrap="square" rtlCol="0">
            <a:spAutoFit/>
          </a:bodyPr>
          <a:lstStyle/>
          <a:p>
            <a:r>
              <a:rPr lang="en-IN" sz="1200"/>
              <a:t>Book doctor appointments online. Check doctor availability. Receive appointment confirmation and reminders. Cancel or reschedule appointments if needed. </a:t>
            </a:r>
          </a:p>
        </p:txBody>
      </p:sp>
      <p:sp>
        <p:nvSpPr>
          <p:cNvPr id="50" name="TextBox 49">
            <a:extLst>
              <a:ext uri="{FF2B5EF4-FFF2-40B4-BE49-F238E27FC236}">
                <a16:creationId xmlns:a16="http://schemas.microsoft.com/office/drawing/2014/main" id="{0B47DDFE-26A6-457B-92B1-26252B661979}"/>
              </a:ext>
            </a:extLst>
          </p:cNvPr>
          <p:cNvSpPr txBox="1"/>
          <p:nvPr/>
        </p:nvSpPr>
        <p:spPr>
          <a:xfrm>
            <a:off x="4809741" y="3467023"/>
            <a:ext cx="2517650" cy="830997"/>
          </a:xfrm>
          <a:prstGeom prst="rect">
            <a:avLst/>
          </a:prstGeom>
          <a:noFill/>
        </p:spPr>
        <p:txBody>
          <a:bodyPr wrap="square" rtlCol="0">
            <a:spAutoFit/>
          </a:bodyPr>
          <a:lstStyle/>
          <a:p>
            <a:r>
              <a:rPr lang="en-IN" sz="1200"/>
              <a:t>“The queue is too long." </a:t>
            </a:r>
          </a:p>
          <a:p>
            <a:r>
              <a:rPr lang="en-IN" sz="1200"/>
              <a:t>"I don't know if the doctor is available." </a:t>
            </a:r>
          </a:p>
          <a:p>
            <a:r>
              <a:rPr lang="en-IN" sz="1200"/>
              <a:t>"I have been waiting for hours."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a:solidFill>
                  <a:srgbClr val="071A45"/>
                </a:solidFill>
                <a:latin typeface="Calibri" pitchFamily="34" charset="0"/>
                <a:ea typeface="Calibri" pitchFamily="34" charset="-122"/>
                <a:cs typeface="Calibri" pitchFamily="34" charset="-120"/>
              </a:rPr>
              <a:t>Insights &amp; Pain Points</a:t>
            </a:r>
            <a:endParaRPr lang="en-US" sz="2900"/>
          </a:p>
        </p:txBody>
      </p:sp>
      <p:sp>
        <p:nvSpPr>
          <p:cNvPr id="5" name="Text 1"/>
          <p:cNvSpPr/>
          <p:nvPr/>
        </p:nvSpPr>
        <p:spPr>
          <a:xfrm>
            <a:off x="502920" y="1481328"/>
            <a:ext cx="11155680" cy="365760"/>
          </a:xfrm>
          <a:prstGeom prst="rect">
            <a:avLst/>
          </a:prstGeom>
          <a:noFill/>
          <a:ln/>
        </p:spPr>
        <p:txBody>
          <a:bodyPr wrap="square" lIns="0" tIns="0" rIns="0" bIns="0" rtlCol="0" anchor="ctr"/>
          <a:lstStyle/>
          <a:p>
            <a:pPr marL="0" indent="0">
              <a:buNone/>
            </a:pPr>
            <a:r>
              <a:rPr lang="en-US" sz="1400">
                <a:solidFill>
                  <a:srgbClr val="5B6685"/>
                </a:solidFill>
                <a:latin typeface="Calibri" pitchFamily="34" charset="0"/>
                <a:ea typeface="Calibri" pitchFamily="34" charset="-122"/>
                <a:cs typeface="Calibri" pitchFamily="34" charset="-120"/>
              </a:rPr>
              <a:t>Read your map again — the gap between what the user SAYS and what they FEEL is where the insight hides.</a:t>
            </a:r>
            <a:endParaRPr lang="en-US" sz="1400"/>
          </a:p>
        </p:txBody>
      </p:sp>
      <p:pic>
        <p:nvPicPr>
          <p:cNvPr id="6" name="Image 2" descr="preencoded.png"/>
          <p:cNvPicPr>
            <a:picLocks noChangeAspect="1"/>
          </p:cNvPicPr>
          <p:nvPr/>
        </p:nvPicPr>
        <p:blipFill>
          <a:blip r:embed="rId4"/>
          <a:stretch>
            <a:fillRect/>
          </a:stretch>
        </p:blipFill>
        <p:spPr>
          <a:xfrm>
            <a:off x="640080" y="2121408"/>
            <a:ext cx="365760" cy="365760"/>
          </a:xfrm>
          <a:prstGeom prst="rect">
            <a:avLst/>
          </a:prstGeom>
        </p:spPr>
      </p:pic>
      <p:sp>
        <p:nvSpPr>
          <p:cNvPr id="7" name="Text 2"/>
          <p:cNvSpPr/>
          <p:nvPr/>
        </p:nvSpPr>
        <p:spPr>
          <a:xfrm>
            <a:off x="1097280" y="2103120"/>
            <a:ext cx="4754880" cy="402336"/>
          </a:xfrm>
          <a:prstGeom prst="rect">
            <a:avLst/>
          </a:prstGeom>
          <a:noFill/>
          <a:ln/>
        </p:spPr>
        <p:txBody>
          <a:bodyPr wrap="square" lIns="0" tIns="0" rIns="0" bIns="0" rtlCol="0" anchor="ctr"/>
          <a:lstStyle/>
          <a:p>
            <a:pPr marL="0" indent="0">
              <a:buNone/>
            </a:pPr>
            <a:r>
              <a:rPr lang="en-US" sz="1900" b="1">
                <a:solidFill>
                  <a:srgbClr val="071A45"/>
                </a:solidFill>
                <a:latin typeface="Calibri" pitchFamily="34" charset="0"/>
                <a:ea typeface="Calibri" pitchFamily="34" charset="-122"/>
                <a:cs typeface="Calibri" pitchFamily="34" charset="-120"/>
              </a:rPr>
              <a:t>Top 3 Pain Points</a:t>
            </a:r>
            <a:endParaRPr lang="en-US" sz="1900"/>
          </a:p>
        </p:txBody>
      </p:sp>
      <p:sp>
        <p:nvSpPr>
          <p:cNvPr id="8" name="Shape 3"/>
          <p:cNvSpPr/>
          <p:nvPr/>
        </p:nvSpPr>
        <p:spPr>
          <a:xfrm>
            <a:off x="640080" y="2697480"/>
            <a:ext cx="5349240" cy="1024128"/>
          </a:xfrm>
          <a:prstGeom prst="roundRect">
            <a:avLst>
              <a:gd name="adj" fmla="val 6250"/>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9" name="Shape 4"/>
          <p:cNvSpPr/>
          <p:nvPr/>
        </p:nvSpPr>
        <p:spPr>
          <a:xfrm>
            <a:off x="822960" y="2862072"/>
            <a:ext cx="347472" cy="347472"/>
          </a:xfrm>
          <a:prstGeom prst="ellipse">
            <a:avLst/>
          </a:prstGeom>
          <a:solidFill>
            <a:srgbClr val="FFC01E"/>
          </a:solidFill>
          <a:ln/>
        </p:spPr>
      </p:sp>
      <p:sp>
        <p:nvSpPr>
          <p:cNvPr id="10" name="Text 5"/>
          <p:cNvSpPr/>
          <p:nvPr/>
        </p:nvSpPr>
        <p:spPr>
          <a:xfrm>
            <a:off x="822960" y="2862072"/>
            <a:ext cx="347472" cy="347472"/>
          </a:xfrm>
          <a:prstGeom prst="rect">
            <a:avLst/>
          </a:prstGeom>
          <a:noFill/>
          <a:ln/>
        </p:spPr>
        <p:txBody>
          <a:bodyPr wrap="square" lIns="0" tIns="0" rIns="0" bIns="0" rtlCol="0" anchor="ctr"/>
          <a:lstStyle/>
          <a:p>
            <a:pPr marL="0" indent="0" algn="ctr">
              <a:buNone/>
            </a:pPr>
            <a:r>
              <a:rPr lang="en-US" sz="1400" b="1">
                <a:solidFill>
                  <a:srgbClr val="071A45"/>
                </a:solidFill>
                <a:latin typeface="Calibri" pitchFamily="34" charset="0"/>
                <a:ea typeface="Calibri" pitchFamily="34" charset="-122"/>
                <a:cs typeface="Calibri" pitchFamily="34" charset="-120"/>
              </a:rPr>
              <a:t>1</a:t>
            </a:r>
            <a:endParaRPr lang="en-US" sz="1400"/>
          </a:p>
        </p:txBody>
      </p:sp>
      <p:sp>
        <p:nvSpPr>
          <p:cNvPr id="11" name="Text 6"/>
          <p:cNvSpPr/>
          <p:nvPr/>
        </p:nvSpPr>
        <p:spPr>
          <a:xfrm>
            <a:off x="1316736" y="2843784"/>
            <a:ext cx="4489704" cy="310896"/>
          </a:xfrm>
          <a:prstGeom prst="rect">
            <a:avLst/>
          </a:prstGeom>
          <a:noFill/>
          <a:ln/>
        </p:spPr>
        <p:txBody>
          <a:bodyPr wrap="square" lIns="0" tIns="0" rIns="0" bIns="0" rtlCol="0" anchor="ctr"/>
          <a:lstStyle/>
          <a:p>
            <a:pPr marL="0" indent="0">
              <a:buNone/>
            </a:pPr>
            <a:r>
              <a:rPr lang="en-US" sz="1350" b="1">
                <a:solidFill>
                  <a:srgbClr val="B23A3A"/>
                </a:solidFill>
                <a:latin typeface="Calibri" pitchFamily="34" charset="0"/>
                <a:ea typeface="Calibri" pitchFamily="34" charset="-122"/>
                <a:cs typeface="Calibri" pitchFamily="34" charset="-120"/>
              </a:rPr>
              <a:t>Pain point</a:t>
            </a:r>
            <a:endParaRPr lang="en-US" sz="1350"/>
          </a:p>
        </p:txBody>
      </p:sp>
      <p:sp>
        <p:nvSpPr>
          <p:cNvPr id="12" name="Text 7"/>
          <p:cNvSpPr/>
          <p:nvPr/>
        </p:nvSpPr>
        <p:spPr>
          <a:xfrm>
            <a:off x="1316736" y="3214797"/>
            <a:ext cx="4489704" cy="457200"/>
          </a:xfrm>
          <a:prstGeom prst="rect">
            <a:avLst/>
          </a:prstGeom>
          <a:noFill/>
          <a:ln/>
        </p:spPr>
        <p:txBody>
          <a:bodyPr wrap="square" lIns="0" tIns="0" rIns="0" bIns="0" rtlCol="0" anchor="ctr"/>
          <a:lstStyle/>
          <a:p>
            <a:r>
              <a:rPr lang="en-US" sz="1200" i="1">
                <a:solidFill>
                  <a:srgbClr val="8A93A8"/>
                </a:solidFill>
                <a:latin typeface="Calibri" pitchFamily="34" charset="0"/>
                <a:ea typeface="Calibri" pitchFamily="34" charset="-122"/>
                <a:cs typeface="Calibri" pitchFamily="34" charset="-120"/>
              </a:rPr>
              <a:t> </a:t>
            </a:r>
            <a:r>
              <a:rPr lang="en-IN" sz="1200" b="1"/>
              <a:t>1. Long waiting time</a:t>
            </a:r>
          </a:p>
          <a:p>
            <a:r>
              <a:rPr lang="en-IN" sz="1200"/>
              <a:t>Patients spend several hours waiting in queues just to register and meet a doctor, even for minor illnesses.</a:t>
            </a:r>
          </a:p>
          <a:p>
            <a:pPr marL="0" indent="0">
              <a:lnSpc>
                <a:spcPct val="95000"/>
              </a:lnSpc>
              <a:buNone/>
            </a:pPr>
            <a:endParaRPr lang="en-US" sz="1000"/>
          </a:p>
        </p:txBody>
      </p:sp>
      <p:sp>
        <p:nvSpPr>
          <p:cNvPr id="13" name="Shape 8"/>
          <p:cNvSpPr/>
          <p:nvPr/>
        </p:nvSpPr>
        <p:spPr>
          <a:xfrm>
            <a:off x="640080" y="3858768"/>
            <a:ext cx="5349240" cy="1024128"/>
          </a:xfrm>
          <a:prstGeom prst="roundRect">
            <a:avLst>
              <a:gd name="adj" fmla="val 6250"/>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4" name="Shape 9"/>
          <p:cNvSpPr/>
          <p:nvPr/>
        </p:nvSpPr>
        <p:spPr>
          <a:xfrm>
            <a:off x="822960" y="4023360"/>
            <a:ext cx="347472" cy="347472"/>
          </a:xfrm>
          <a:prstGeom prst="ellipse">
            <a:avLst/>
          </a:prstGeom>
          <a:solidFill>
            <a:srgbClr val="FFC01E"/>
          </a:solidFill>
          <a:ln/>
        </p:spPr>
      </p:sp>
      <p:sp>
        <p:nvSpPr>
          <p:cNvPr id="15" name="Text 10"/>
          <p:cNvSpPr/>
          <p:nvPr/>
        </p:nvSpPr>
        <p:spPr>
          <a:xfrm>
            <a:off x="822960" y="4023360"/>
            <a:ext cx="347472" cy="347472"/>
          </a:xfrm>
          <a:prstGeom prst="rect">
            <a:avLst/>
          </a:prstGeom>
          <a:noFill/>
          <a:ln/>
        </p:spPr>
        <p:txBody>
          <a:bodyPr wrap="square" lIns="0" tIns="0" rIns="0" bIns="0" rtlCol="0" anchor="ctr"/>
          <a:lstStyle/>
          <a:p>
            <a:pPr marL="0" indent="0" algn="ctr">
              <a:buNone/>
            </a:pPr>
            <a:r>
              <a:rPr lang="en-US" sz="1400" b="1">
                <a:solidFill>
                  <a:srgbClr val="071A45"/>
                </a:solidFill>
                <a:latin typeface="Calibri" pitchFamily="34" charset="0"/>
                <a:ea typeface="Calibri" pitchFamily="34" charset="-122"/>
                <a:cs typeface="Calibri" pitchFamily="34" charset="-120"/>
              </a:rPr>
              <a:t>2</a:t>
            </a:r>
            <a:endParaRPr lang="en-US" sz="1400"/>
          </a:p>
        </p:txBody>
      </p:sp>
      <p:sp>
        <p:nvSpPr>
          <p:cNvPr id="16" name="Text 11"/>
          <p:cNvSpPr/>
          <p:nvPr/>
        </p:nvSpPr>
        <p:spPr>
          <a:xfrm>
            <a:off x="1316736" y="4005072"/>
            <a:ext cx="4489704" cy="310896"/>
          </a:xfrm>
          <a:prstGeom prst="rect">
            <a:avLst/>
          </a:prstGeom>
          <a:noFill/>
          <a:ln/>
        </p:spPr>
        <p:txBody>
          <a:bodyPr wrap="square" lIns="0" tIns="0" rIns="0" bIns="0" rtlCol="0" anchor="ctr"/>
          <a:lstStyle/>
          <a:p>
            <a:pPr marL="0" indent="0">
              <a:buNone/>
            </a:pPr>
            <a:r>
              <a:rPr lang="en-US" sz="1350" b="1">
                <a:solidFill>
                  <a:srgbClr val="B23A3A"/>
                </a:solidFill>
                <a:latin typeface="Calibri" pitchFamily="34" charset="0"/>
                <a:ea typeface="Calibri" pitchFamily="34" charset="-122"/>
                <a:cs typeface="Calibri" pitchFamily="34" charset="-120"/>
              </a:rPr>
              <a:t>Pain point</a:t>
            </a:r>
            <a:endParaRPr lang="en-US" sz="1350"/>
          </a:p>
        </p:txBody>
      </p:sp>
      <p:sp>
        <p:nvSpPr>
          <p:cNvPr id="17" name="Text 12"/>
          <p:cNvSpPr/>
          <p:nvPr/>
        </p:nvSpPr>
        <p:spPr>
          <a:xfrm>
            <a:off x="1335024" y="4365346"/>
            <a:ext cx="4489704" cy="457200"/>
          </a:xfrm>
          <a:prstGeom prst="rect">
            <a:avLst/>
          </a:prstGeom>
          <a:noFill/>
          <a:ln/>
        </p:spPr>
        <p:txBody>
          <a:bodyPr wrap="square" lIns="0" tIns="0" rIns="0" bIns="0" rtlCol="0" anchor="ctr"/>
          <a:lstStyle/>
          <a:p>
            <a:r>
              <a:rPr lang="en-IN" sz="1200" b="1"/>
              <a:t>2. Difficulty getting appointments</a:t>
            </a:r>
          </a:p>
          <a:p>
            <a:r>
              <a:rPr lang="en-IN" sz="1200"/>
              <a:t>Patients often don't know doctor availability, OP timings, or appointment slots before visiting the hospital</a:t>
            </a:r>
            <a:r>
              <a:rPr lang="en-IN" sz="1000"/>
              <a:t>.</a:t>
            </a:r>
          </a:p>
          <a:p>
            <a:pPr marL="0" indent="0">
              <a:lnSpc>
                <a:spcPct val="95000"/>
              </a:lnSpc>
              <a:buNone/>
            </a:pPr>
            <a:r>
              <a:rPr lang="en-US" sz="1000" i="1">
                <a:solidFill>
                  <a:srgbClr val="8A93A8"/>
                </a:solidFill>
                <a:latin typeface="Calibri" pitchFamily="34" charset="0"/>
                <a:ea typeface="Calibri" pitchFamily="34" charset="-122"/>
                <a:cs typeface="Calibri" pitchFamily="34" charset="-120"/>
              </a:rPr>
              <a:t>.</a:t>
            </a:r>
            <a:endParaRPr lang="en-US" sz="1000"/>
          </a:p>
        </p:txBody>
      </p:sp>
      <p:sp>
        <p:nvSpPr>
          <p:cNvPr id="18" name="Shape 13"/>
          <p:cNvSpPr/>
          <p:nvPr/>
        </p:nvSpPr>
        <p:spPr>
          <a:xfrm>
            <a:off x="640080" y="5020056"/>
            <a:ext cx="5349240" cy="1024128"/>
          </a:xfrm>
          <a:prstGeom prst="roundRect">
            <a:avLst>
              <a:gd name="adj" fmla="val 6250"/>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9" name="Shape 14"/>
          <p:cNvSpPr/>
          <p:nvPr/>
        </p:nvSpPr>
        <p:spPr>
          <a:xfrm>
            <a:off x="822960" y="5184648"/>
            <a:ext cx="347472" cy="347472"/>
          </a:xfrm>
          <a:prstGeom prst="ellipse">
            <a:avLst/>
          </a:prstGeom>
          <a:solidFill>
            <a:srgbClr val="FFC01E"/>
          </a:solidFill>
          <a:ln/>
        </p:spPr>
      </p:sp>
      <p:sp>
        <p:nvSpPr>
          <p:cNvPr id="20" name="Text 15"/>
          <p:cNvSpPr/>
          <p:nvPr/>
        </p:nvSpPr>
        <p:spPr>
          <a:xfrm>
            <a:off x="822960" y="5184648"/>
            <a:ext cx="347472" cy="347472"/>
          </a:xfrm>
          <a:prstGeom prst="rect">
            <a:avLst/>
          </a:prstGeom>
          <a:noFill/>
          <a:ln/>
        </p:spPr>
        <p:txBody>
          <a:bodyPr wrap="square" lIns="0" tIns="0" rIns="0" bIns="0" rtlCol="0" anchor="ctr"/>
          <a:lstStyle/>
          <a:p>
            <a:pPr marL="0" indent="0" algn="ctr">
              <a:buNone/>
            </a:pPr>
            <a:r>
              <a:rPr lang="en-US" sz="1400" b="1">
                <a:solidFill>
                  <a:srgbClr val="071A45"/>
                </a:solidFill>
                <a:latin typeface="Calibri" pitchFamily="34" charset="0"/>
                <a:ea typeface="Calibri" pitchFamily="34" charset="-122"/>
                <a:cs typeface="Calibri" pitchFamily="34" charset="-120"/>
              </a:rPr>
              <a:t>3</a:t>
            </a:r>
            <a:endParaRPr lang="en-US" sz="1400"/>
          </a:p>
        </p:txBody>
      </p:sp>
      <p:sp>
        <p:nvSpPr>
          <p:cNvPr id="21" name="Text 16"/>
          <p:cNvSpPr/>
          <p:nvPr/>
        </p:nvSpPr>
        <p:spPr>
          <a:xfrm>
            <a:off x="1316736" y="5166360"/>
            <a:ext cx="4489704" cy="310896"/>
          </a:xfrm>
          <a:prstGeom prst="rect">
            <a:avLst/>
          </a:prstGeom>
          <a:noFill/>
          <a:ln/>
        </p:spPr>
        <p:txBody>
          <a:bodyPr wrap="square" lIns="0" tIns="0" rIns="0" bIns="0" rtlCol="0" anchor="ctr"/>
          <a:lstStyle/>
          <a:p>
            <a:pPr marL="0" indent="0">
              <a:buNone/>
            </a:pPr>
            <a:r>
              <a:rPr lang="en-US" sz="1350" b="1">
                <a:solidFill>
                  <a:srgbClr val="B23A3A"/>
                </a:solidFill>
                <a:latin typeface="Calibri" pitchFamily="34" charset="0"/>
                <a:ea typeface="Calibri" pitchFamily="34" charset="-122"/>
                <a:cs typeface="Calibri" pitchFamily="34" charset="-120"/>
              </a:rPr>
              <a:t>Pain point</a:t>
            </a:r>
            <a:endParaRPr lang="en-US" sz="1350"/>
          </a:p>
        </p:txBody>
      </p:sp>
      <p:sp>
        <p:nvSpPr>
          <p:cNvPr id="22" name="Text 17"/>
          <p:cNvSpPr/>
          <p:nvPr/>
        </p:nvSpPr>
        <p:spPr>
          <a:xfrm>
            <a:off x="1316736" y="5497295"/>
            <a:ext cx="4489704" cy="457200"/>
          </a:xfrm>
          <a:prstGeom prst="rect">
            <a:avLst/>
          </a:prstGeom>
          <a:noFill/>
          <a:ln/>
        </p:spPr>
        <p:txBody>
          <a:bodyPr wrap="square" lIns="0" tIns="0" rIns="0" bIns="0" rtlCol="0" anchor="ctr"/>
          <a:lstStyle/>
          <a:p>
            <a:r>
              <a:rPr lang="en-US" sz="1000" i="1">
                <a:solidFill>
                  <a:srgbClr val="8A93A8"/>
                </a:solidFill>
                <a:latin typeface="Calibri" pitchFamily="34" charset="0"/>
                <a:ea typeface="Calibri" pitchFamily="34" charset="-122"/>
                <a:cs typeface="Calibri" pitchFamily="34" charset="-120"/>
              </a:rPr>
              <a:t> </a:t>
            </a:r>
            <a:r>
              <a:rPr lang="en-IN" sz="1200" b="1"/>
              <a:t>3. Poor access to hospital information</a:t>
            </a:r>
          </a:p>
          <a:p>
            <a:r>
              <a:rPr lang="en-IN" sz="1200"/>
              <a:t>Many patients travel long distances only to find that the doctor is unavailable or the OP limit has already been reached.</a:t>
            </a:r>
          </a:p>
          <a:p>
            <a:pPr marL="0" indent="0">
              <a:lnSpc>
                <a:spcPct val="95000"/>
              </a:lnSpc>
              <a:buNone/>
            </a:pPr>
            <a:endParaRPr lang="en-US" sz="1000"/>
          </a:p>
        </p:txBody>
      </p:sp>
      <p:sp>
        <p:nvSpPr>
          <p:cNvPr id="23" name="Shape 18"/>
          <p:cNvSpPr/>
          <p:nvPr/>
        </p:nvSpPr>
        <p:spPr>
          <a:xfrm>
            <a:off x="6355080" y="2121408"/>
            <a:ext cx="5193792" cy="3822192"/>
          </a:xfrm>
          <a:prstGeom prst="roundRect">
            <a:avLst>
              <a:gd name="adj" fmla="val 2392"/>
            </a:avLst>
          </a:prstGeom>
          <a:solidFill>
            <a:srgbClr val="FFF6DD"/>
          </a:solidFill>
          <a:ln w="12700">
            <a:solidFill>
              <a:srgbClr val="F2D98A"/>
            </a:solidFill>
            <a:prstDash val="solid"/>
          </a:ln>
          <a:effectLst>
            <a:outerShdw blurRad="88900" dist="38100" dir="5400000" algn="bl" rotWithShape="0">
              <a:srgbClr val="071A45">
                <a:alpha val="12000"/>
              </a:srgbClr>
            </a:outerShdw>
          </a:effectLst>
        </p:spPr>
        <p:txBody>
          <a:bodyPr/>
          <a:lstStyle/>
          <a:p>
            <a:endParaRPr lang="en-IN"/>
          </a:p>
        </p:txBody>
      </p:sp>
      <p:pic>
        <p:nvPicPr>
          <p:cNvPr id="24" name="Image 3" descr="preencoded.png"/>
          <p:cNvPicPr>
            <a:picLocks noChangeAspect="1"/>
          </p:cNvPicPr>
          <p:nvPr/>
        </p:nvPicPr>
        <p:blipFill>
          <a:blip r:embed="rId5"/>
          <a:stretch>
            <a:fillRect/>
          </a:stretch>
        </p:blipFill>
        <p:spPr>
          <a:xfrm>
            <a:off x="6629400" y="2377440"/>
            <a:ext cx="420624" cy="420624"/>
          </a:xfrm>
          <a:prstGeom prst="rect">
            <a:avLst/>
          </a:prstGeom>
        </p:spPr>
      </p:pic>
      <p:sp>
        <p:nvSpPr>
          <p:cNvPr id="25" name="Text 19"/>
          <p:cNvSpPr/>
          <p:nvPr/>
        </p:nvSpPr>
        <p:spPr>
          <a:xfrm>
            <a:off x="7132320" y="2359152"/>
            <a:ext cx="4114800" cy="402336"/>
          </a:xfrm>
          <a:prstGeom prst="rect">
            <a:avLst/>
          </a:prstGeom>
          <a:noFill/>
          <a:ln/>
        </p:spPr>
        <p:txBody>
          <a:bodyPr wrap="square" lIns="0" tIns="0" rIns="0" bIns="0" rtlCol="0" anchor="ctr"/>
          <a:lstStyle/>
          <a:p>
            <a:pPr marL="0" indent="0">
              <a:buNone/>
            </a:pPr>
            <a:r>
              <a:rPr lang="en-US" sz="1900" b="1">
                <a:solidFill>
                  <a:srgbClr val="9A6B12"/>
                </a:solidFill>
                <a:latin typeface="Calibri" pitchFamily="34" charset="0"/>
                <a:ea typeface="Calibri" pitchFamily="34" charset="-122"/>
                <a:cs typeface="Calibri" pitchFamily="34" charset="-120"/>
              </a:rPr>
              <a:t>Key Insight</a:t>
            </a:r>
            <a:endParaRPr lang="en-US" sz="1900"/>
          </a:p>
        </p:txBody>
      </p:sp>
      <p:sp>
        <p:nvSpPr>
          <p:cNvPr id="26" name="Text 20"/>
          <p:cNvSpPr/>
          <p:nvPr/>
        </p:nvSpPr>
        <p:spPr>
          <a:xfrm>
            <a:off x="6629400" y="2907792"/>
            <a:ext cx="4663440" cy="457200"/>
          </a:xfrm>
          <a:prstGeom prst="rect">
            <a:avLst/>
          </a:prstGeom>
          <a:noFill/>
          <a:ln/>
        </p:spPr>
        <p:txBody>
          <a:bodyPr wrap="square" lIns="0" tIns="0" rIns="0" bIns="0" rtlCol="0" anchor="ctr"/>
          <a:lstStyle/>
          <a:p>
            <a:pPr marL="0" indent="0">
              <a:buNone/>
            </a:pPr>
            <a:r>
              <a:rPr lang="en-US" sz="1150" i="1">
                <a:solidFill>
                  <a:srgbClr val="8A6A2E"/>
                </a:solidFill>
                <a:latin typeface="Calibri" pitchFamily="34" charset="0"/>
                <a:ea typeface="Calibri" pitchFamily="34" charset="-122"/>
                <a:cs typeface="Calibri" pitchFamily="34" charset="-120"/>
              </a:rPr>
              <a:t>The one thing we now understand about our user that we didn't before:</a:t>
            </a:r>
            <a:endParaRPr lang="en-US" sz="1150"/>
          </a:p>
        </p:txBody>
      </p:sp>
      <p:sp>
        <p:nvSpPr>
          <p:cNvPr id="27" name="Text 21"/>
          <p:cNvSpPr/>
          <p:nvPr/>
        </p:nvSpPr>
        <p:spPr>
          <a:xfrm>
            <a:off x="6629400" y="3383280"/>
            <a:ext cx="4663440" cy="1463040"/>
          </a:xfrm>
          <a:prstGeom prst="rect">
            <a:avLst/>
          </a:prstGeom>
          <a:noFill/>
          <a:ln/>
        </p:spPr>
        <p:txBody>
          <a:bodyPr wrap="square" lIns="0" tIns="0" rIns="0" bIns="0" rtlCol="0" anchor="ctr"/>
          <a:lstStyle/>
          <a:p>
            <a:pPr marL="0" indent="0">
              <a:lnSpc>
                <a:spcPct val="108000"/>
              </a:lnSpc>
              <a:buNone/>
            </a:pPr>
            <a:endParaRPr lang="en-US" sz="1400"/>
          </a:p>
        </p:txBody>
      </p:sp>
      <p:sp>
        <p:nvSpPr>
          <p:cNvPr id="28" name="Text 22"/>
          <p:cNvSpPr/>
          <p:nvPr/>
        </p:nvSpPr>
        <p:spPr>
          <a:xfrm>
            <a:off x="6629400" y="4506825"/>
            <a:ext cx="4663440" cy="457200"/>
          </a:xfrm>
          <a:prstGeom prst="rect">
            <a:avLst/>
          </a:prstGeom>
          <a:noFill/>
          <a:ln/>
        </p:spPr>
        <p:txBody>
          <a:bodyPr wrap="square" lIns="0" tIns="0" rIns="0" bIns="0" rtlCol="0" anchor="ctr"/>
          <a:lstStyle/>
          <a:p>
            <a:r>
              <a:rPr lang="en-US" sz="1250" b="1">
                <a:solidFill>
                  <a:srgbClr val="9A6B12"/>
                </a:solidFill>
                <a:latin typeface="Calibri" pitchFamily="34" charset="0"/>
                <a:ea typeface="Calibri" pitchFamily="34" charset="-122"/>
                <a:cs typeface="Calibri" pitchFamily="34" charset="-120"/>
              </a:rPr>
              <a:t>This surprised us: </a:t>
            </a:r>
            <a:r>
              <a:rPr lang="en-IN" sz="1400"/>
              <a:t>Most patients are willing to use a simple digital system if it saves them time and avoids unnecessary travel.</a:t>
            </a:r>
            <a:endParaRPr lang="en-US" sz="1250"/>
          </a:p>
        </p:txBody>
      </p:sp>
      <p:sp>
        <p:nvSpPr>
          <p:cNvPr id="29" name="Text 23"/>
          <p:cNvSpPr/>
          <p:nvPr/>
        </p:nvSpPr>
        <p:spPr>
          <a:xfrm>
            <a:off x="502920" y="6455664"/>
            <a:ext cx="8229600" cy="274320"/>
          </a:xfrm>
          <a:prstGeom prst="rect">
            <a:avLst/>
          </a:prstGeom>
          <a:noFill/>
          <a:ln/>
        </p:spPr>
        <p:txBody>
          <a:bodyPr wrap="square" lIns="0" tIns="0" rIns="0" bIns="0" rtlCol="0" anchor="ctr"/>
          <a:lstStyle/>
          <a:p>
            <a:pPr marL="0" indent="0">
              <a:buNone/>
            </a:pPr>
            <a:r>
              <a:rPr lang="en-US" sz="900">
                <a:solidFill>
                  <a:srgbClr val="AAB2C5"/>
                </a:solidFill>
                <a:latin typeface="Calibri" pitchFamily="34" charset="0"/>
                <a:ea typeface="Calibri" pitchFamily="34" charset="-122"/>
                <a:cs typeface="Calibri" pitchFamily="34" charset="-120"/>
              </a:rPr>
              <a:t>Sri Eshwar College of Engineering  ·  Design Thinking &amp; Innovation</a:t>
            </a:r>
            <a:endParaRPr lang="en-US" sz="900"/>
          </a:p>
        </p:txBody>
      </p:sp>
      <p:pic>
        <p:nvPicPr>
          <p:cNvPr id="31" name="Picture 30">
            <a:extLst>
              <a:ext uri="{FF2B5EF4-FFF2-40B4-BE49-F238E27FC236}">
                <a16:creationId xmlns:a16="http://schemas.microsoft.com/office/drawing/2014/main" id="{5924CAA3-EBB4-A2A1-24A8-118A0CEBB886}"/>
              </a:ext>
            </a:extLst>
          </p:cNvPr>
          <p:cNvPicPr>
            <a:picLocks noChangeAspect="1"/>
          </p:cNvPicPr>
          <p:nvPr/>
        </p:nvPicPr>
        <p:blipFill>
          <a:blip r:embed="rId6"/>
          <a:stretch>
            <a:fillRect/>
          </a:stretch>
        </p:blipFill>
        <p:spPr>
          <a:xfrm>
            <a:off x="10363654" y="371776"/>
            <a:ext cx="1325426" cy="603504"/>
          </a:xfrm>
          <a:prstGeom prst="rect">
            <a:avLst/>
          </a:prstGeom>
        </p:spPr>
      </p:pic>
      <p:sp>
        <p:nvSpPr>
          <p:cNvPr id="3" name="TextBox 2">
            <a:extLst>
              <a:ext uri="{FF2B5EF4-FFF2-40B4-BE49-F238E27FC236}">
                <a16:creationId xmlns:a16="http://schemas.microsoft.com/office/drawing/2014/main" id="{94EB7F63-63E4-29D8-CAAB-A088CACACC96}"/>
              </a:ext>
            </a:extLst>
          </p:cNvPr>
          <p:cNvSpPr txBox="1"/>
          <p:nvPr/>
        </p:nvSpPr>
        <p:spPr>
          <a:xfrm>
            <a:off x="6629400" y="3429000"/>
            <a:ext cx="4401766" cy="954107"/>
          </a:xfrm>
          <a:prstGeom prst="rect">
            <a:avLst/>
          </a:prstGeom>
          <a:noFill/>
        </p:spPr>
        <p:txBody>
          <a:bodyPr wrap="square" rtlCol="0">
            <a:spAutoFit/>
          </a:bodyPr>
          <a:lstStyle/>
          <a:p>
            <a:r>
              <a:rPr lang="en-IN" sz="1400"/>
              <a:t>Government hospital patients don't just need online appointment booking—they need </a:t>
            </a:r>
            <a:r>
              <a:rPr lang="en-IN" sz="1400" b="1"/>
              <a:t>certainty</a:t>
            </a:r>
            <a:r>
              <a:rPr lang="en-IN" sz="1400"/>
              <a:t> that they can meet the right doctor at the right time without wasting an entire day.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a:solidFill>
                  <a:srgbClr val="071A45"/>
                </a:solidFill>
                <a:latin typeface="Calibri" pitchFamily="34" charset="0"/>
                <a:ea typeface="Calibri" pitchFamily="34" charset="-122"/>
                <a:cs typeface="Calibri" pitchFamily="34" charset="-120"/>
              </a:rPr>
              <a:t>Problem Statement Canvas</a:t>
            </a:r>
            <a:endParaRPr lang="en-US" sz="2900"/>
          </a:p>
        </p:txBody>
      </p:sp>
      <p:sp>
        <p:nvSpPr>
          <p:cNvPr id="5" name="Text 1"/>
          <p:cNvSpPr/>
          <p:nvPr/>
        </p:nvSpPr>
        <p:spPr>
          <a:xfrm>
            <a:off x="502920" y="1463040"/>
            <a:ext cx="11155680" cy="292608"/>
          </a:xfrm>
          <a:prstGeom prst="rect">
            <a:avLst/>
          </a:prstGeom>
          <a:noFill/>
          <a:ln/>
        </p:spPr>
        <p:txBody>
          <a:bodyPr wrap="square" lIns="0" tIns="0" rIns="0" bIns="0" rtlCol="0" anchor="ctr"/>
          <a:lstStyle/>
          <a:p>
            <a:pPr marL="0" indent="0">
              <a:buNone/>
            </a:pPr>
            <a:r>
              <a:rPr lang="en-US" sz="1050" b="1">
                <a:solidFill>
                  <a:srgbClr val="071A45"/>
                </a:solidFill>
                <a:latin typeface="Calibri" pitchFamily="34" charset="0"/>
                <a:ea typeface="Calibri" pitchFamily="34" charset="-122"/>
                <a:cs typeface="Calibri" pitchFamily="34" charset="-120"/>
              </a:rPr>
              <a:t>Year &amp; Dept/Section: </a:t>
            </a:r>
            <a:r>
              <a:rPr lang="en-US" sz="1050" i="1">
                <a:solidFill>
                  <a:srgbClr val="8A93A8"/>
                </a:solidFill>
                <a:latin typeface="Calibri" pitchFamily="34" charset="0"/>
                <a:ea typeface="Calibri" pitchFamily="34" charset="-122"/>
                <a:cs typeface="Calibri" pitchFamily="34" charset="-120"/>
              </a:rPr>
              <a:t>[ II &amp; AI-DS-B ]    </a:t>
            </a:r>
            <a:r>
              <a:rPr lang="en-US" sz="1050" b="1">
                <a:solidFill>
                  <a:srgbClr val="071A45"/>
                </a:solidFill>
                <a:latin typeface="Calibri" pitchFamily="34" charset="0"/>
                <a:ea typeface="Calibri" pitchFamily="34" charset="-122"/>
                <a:cs typeface="Calibri" pitchFamily="34" charset="-120"/>
              </a:rPr>
              <a:t>Team / Batch No: </a:t>
            </a:r>
            <a:r>
              <a:rPr lang="en-US" sz="1050" i="1">
                <a:solidFill>
                  <a:srgbClr val="8A93A8"/>
                </a:solidFill>
                <a:latin typeface="Calibri" pitchFamily="34" charset="0"/>
                <a:ea typeface="Calibri" pitchFamily="34" charset="-122"/>
                <a:cs typeface="Calibri" pitchFamily="34" charset="-120"/>
              </a:rPr>
              <a:t>[ JUSTINOV]    </a:t>
            </a:r>
            <a:r>
              <a:rPr lang="en-US" sz="1050" b="1">
                <a:solidFill>
                  <a:srgbClr val="071A45"/>
                </a:solidFill>
                <a:latin typeface="Calibri" pitchFamily="34" charset="0"/>
                <a:ea typeface="Calibri" pitchFamily="34" charset="-122"/>
                <a:cs typeface="Calibri" pitchFamily="34" charset="-120"/>
              </a:rPr>
              <a:t>Members: </a:t>
            </a:r>
            <a:r>
              <a:rPr lang="en-US" sz="1050" i="1">
                <a:solidFill>
                  <a:srgbClr val="8A93A8"/>
                </a:solidFill>
                <a:latin typeface="Calibri" pitchFamily="34" charset="0"/>
                <a:ea typeface="Calibri" pitchFamily="34" charset="-122"/>
                <a:cs typeface="Calibri" pitchFamily="34" charset="-120"/>
              </a:rPr>
              <a:t>[ KANISH ,KRISHKARTHIK,KALICHARAN ]</a:t>
            </a:r>
            <a:endParaRPr lang="en-US" sz="1050"/>
          </a:p>
        </p:txBody>
      </p:sp>
      <p:sp>
        <p:nvSpPr>
          <p:cNvPr id="6" name="Shape 2"/>
          <p:cNvSpPr/>
          <p:nvPr/>
        </p:nvSpPr>
        <p:spPr>
          <a:xfrm>
            <a:off x="502920" y="1828800"/>
            <a:ext cx="11183112" cy="566928"/>
          </a:xfrm>
          <a:prstGeom prst="roundRect">
            <a:avLst>
              <a:gd name="adj" fmla="val 11290"/>
            </a:avLst>
          </a:prstGeom>
          <a:solidFill>
            <a:srgbClr val="E9EFFC"/>
          </a:solidFill>
          <a:ln w="12700">
            <a:solidFill>
              <a:srgbClr val="D2DEF8"/>
            </a:solidFill>
            <a:prstDash val="solid"/>
          </a:ln>
        </p:spPr>
      </p:sp>
      <p:sp>
        <p:nvSpPr>
          <p:cNvPr id="7" name="Text 3"/>
          <p:cNvSpPr/>
          <p:nvPr/>
        </p:nvSpPr>
        <p:spPr>
          <a:xfrm>
            <a:off x="731520" y="1828800"/>
            <a:ext cx="10789920" cy="566928"/>
          </a:xfrm>
          <a:prstGeom prst="rect">
            <a:avLst/>
          </a:prstGeom>
          <a:noFill/>
          <a:ln/>
        </p:spPr>
        <p:txBody>
          <a:bodyPr wrap="square" lIns="0" tIns="0" rIns="0" bIns="0" rtlCol="0" anchor="ctr"/>
          <a:lstStyle/>
          <a:p>
            <a:r>
              <a:rPr lang="en-US" sz="1200" b="1">
                <a:solidFill>
                  <a:srgbClr val="1C52C2"/>
                </a:solidFill>
                <a:latin typeface="Calibri" pitchFamily="34" charset="0"/>
                <a:ea typeface="Calibri" pitchFamily="34" charset="-122"/>
                <a:cs typeface="Calibri" pitchFamily="34" charset="-120"/>
              </a:rPr>
              <a:t>TARGET USER   </a:t>
            </a:r>
            <a:r>
              <a:rPr lang="en-US" sz="1200">
                <a:solidFill>
                  <a:srgbClr val="071A45"/>
                </a:solidFill>
                <a:latin typeface="Calibri" pitchFamily="34" charset="0"/>
                <a:ea typeface="Calibri" pitchFamily="34" charset="-122"/>
                <a:cs typeface="Calibri" pitchFamily="34" charset="-120"/>
              </a:rPr>
              <a:t>Who is facing the problem? (age group / role / location):  </a:t>
            </a:r>
            <a:r>
              <a:rPr lang="en-US" sz="1200" i="1">
                <a:solidFill>
                  <a:srgbClr val="8A93A8"/>
                </a:solidFill>
                <a:latin typeface="Calibri" pitchFamily="34" charset="0"/>
                <a:ea typeface="Calibri" pitchFamily="34" charset="-122"/>
                <a:cs typeface="Calibri" pitchFamily="34" charset="-120"/>
              </a:rPr>
              <a:t>[</a:t>
            </a:r>
            <a:r>
              <a:rPr lang="en-IN" sz="1200"/>
              <a:t>Government hospital patients ,Senior citizens ,Pregnant women ,People from rural areas , Working professionals who cannot wait in long queue</a:t>
            </a:r>
            <a:r>
              <a:rPr lang="en-US" sz="1200" i="1">
                <a:solidFill>
                  <a:srgbClr val="8A93A8"/>
                </a:solidFill>
                <a:latin typeface="Calibri" pitchFamily="34" charset="0"/>
                <a:ea typeface="Calibri" pitchFamily="34" charset="-122"/>
                <a:cs typeface="Calibri" pitchFamily="34" charset="-120"/>
              </a:rPr>
              <a:t> ]</a:t>
            </a:r>
            <a:endParaRPr lang="en-US" sz="1200"/>
          </a:p>
        </p:txBody>
      </p:sp>
      <p:sp>
        <p:nvSpPr>
          <p:cNvPr id="8" name="Shape 4"/>
          <p:cNvSpPr/>
          <p:nvPr/>
        </p:nvSpPr>
        <p:spPr>
          <a:xfrm>
            <a:off x="502920" y="2505456"/>
            <a:ext cx="3602736" cy="1554480"/>
          </a:xfrm>
          <a:prstGeom prst="roundRect">
            <a:avLst>
              <a:gd name="adj" fmla="val 4118"/>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9" name="Text 5"/>
          <p:cNvSpPr/>
          <p:nvPr/>
        </p:nvSpPr>
        <p:spPr>
          <a:xfrm>
            <a:off x="704088" y="2651760"/>
            <a:ext cx="3236976"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CONTEXT</a:t>
            </a:r>
            <a:endParaRPr lang="en-US" sz="1350"/>
          </a:p>
        </p:txBody>
      </p:sp>
      <p:sp>
        <p:nvSpPr>
          <p:cNvPr id="10" name="Text 6"/>
          <p:cNvSpPr/>
          <p:nvPr/>
        </p:nvSpPr>
        <p:spPr>
          <a:xfrm>
            <a:off x="704088" y="3069271"/>
            <a:ext cx="3236976" cy="457200"/>
          </a:xfrm>
          <a:prstGeom prst="rect">
            <a:avLst/>
          </a:prstGeom>
          <a:noFill/>
          <a:ln/>
        </p:spPr>
        <p:txBody>
          <a:bodyPr wrap="square" lIns="0" tIns="0" rIns="0" bIns="0" rtlCol="0" anchor="ctr"/>
          <a:lstStyle/>
          <a:p>
            <a:pPr>
              <a:lnSpc>
                <a:spcPct val="95000"/>
              </a:lnSpc>
            </a:pPr>
            <a:r>
              <a:rPr lang="en-IN" sz="1200"/>
              <a:t>The problem occurs when patients visit government hospitals to register for outpatient consultation. They must stand in long queues without knowing doctor availability or waiting time.</a:t>
            </a:r>
            <a:endParaRPr lang="en-US" sz="1200"/>
          </a:p>
        </p:txBody>
      </p:sp>
      <p:sp>
        <p:nvSpPr>
          <p:cNvPr id="11" name="Shape 7"/>
          <p:cNvSpPr/>
          <p:nvPr/>
        </p:nvSpPr>
        <p:spPr>
          <a:xfrm>
            <a:off x="4288536" y="2505456"/>
            <a:ext cx="3602736" cy="1554480"/>
          </a:xfrm>
          <a:prstGeom prst="roundRect">
            <a:avLst>
              <a:gd name="adj" fmla="val 4118"/>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txBody>
          <a:bodyPr/>
          <a:lstStyle/>
          <a:p>
            <a:endParaRPr lang="en-IN"/>
          </a:p>
        </p:txBody>
      </p:sp>
      <p:sp>
        <p:nvSpPr>
          <p:cNvPr id="12" name="Text 8"/>
          <p:cNvSpPr/>
          <p:nvPr/>
        </p:nvSpPr>
        <p:spPr>
          <a:xfrm>
            <a:off x="4489704" y="2651760"/>
            <a:ext cx="3236976"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PROBLEM</a:t>
            </a:r>
            <a:endParaRPr lang="en-US" sz="1350"/>
          </a:p>
        </p:txBody>
      </p:sp>
      <p:sp>
        <p:nvSpPr>
          <p:cNvPr id="13" name="Text 9"/>
          <p:cNvSpPr/>
          <p:nvPr/>
        </p:nvSpPr>
        <p:spPr>
          <a:xfrm>
            <a:off x="4489704" y="2962656"/>
            <a:ext cx="3236976" cy="457200"/>
          </a:xfrm>
          <a:prstGeom prst="rect">
            <a:avLst/>
          </a:prstGeom>
          <a:noFill/>
          <a:ln/>
        </p:spPr>
        <p:txBody>
          <a:bodyPr wrap="square" lIns="0" tIns="0" rIns="0" bIns="0" rtlCol="0" anchor="ctr"/>
          <a:lstStyle/>
          <a:p>
            <a:pPr marL="0" indent="0">
              <a:lnSpc>
                <a:spcPct val="95000"/>
              </a:lnSpc>
              <a:buNone/>
            </a:pPr>
            <a:endParaRPr lang="en-US" sz="1200"/>
          </a:p>
        </p:txBody>
      </p:sp>
      <p:sp>
        <p:nvSpPr>
          <p:cNvPr id="14" name="Shape 10"/>
          <p:cNvSpPr/>
          <p:nvPr/>
        </p:nvSpPr>
        <p:spPr>
          <a:xfrm>
            <a:off x="8074152" y="2505456"/>
            <a:ext cx="3602736" cy="1554480"/>
          </a:xfrm>
          <a:prstGeom prst="roundRect">
            <a:avLst>
              <a:gd name="adj" fmla="val 4118"/>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5" name="Text 11"/>
          <p:cNvSpPr/>
          <p:nvPr/>
        </p:nvSpPr>
        <p:spPr>
          <a:xfrm>
            <a:off x="8275320" y="2651760"/>
            <a:ext cx="3236976"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ALTERNATIVES</a:t>
            </a:r>
            <a:endParaRPr lang="en-US" sz="1350"/>
          </a:p>
        </p:txBody>
      </p:sp>
      <p:sp>
        <p:nvSpPr>
          <p:cNvPr id="16" name="Text 12"/>
          <p:cNvSpPr/>
          <p:nvPr/>
        </p:nvSpPr>
        <p:spPr>
          <a:xfrm>
            <a:off x="8275320" y="3267521"/>
            <a:ext cx="3236976" cy="457200"/>
          </a:xfrm>
          <a:prstGeom prst="rect">
            <a:avLst/>
          </a:prstGeom>
          <a:noFill/>
          <a:ln/>
        </p:spPr>
        <p:txBody>
          <a:bodyPr wrap="square" lIns="0" tIns="0" rIns="0" bIns="0" rtlCol="0" anchor="ctr"/>
          <a:lstStyle/>
          <a:p>
            <a:r>
              <a:rPr lang="en-IN" sz="1200"/>
              <a:t>Currently patients:</a:t>
            </a:r>
          </a:p>
          <a:p>
            <a:r>
              <a:rPr lang="en-IN" sz="1200"/>
              <a:t>Visit the hospital early in the morning </a:t>
            </a:r>
          </a:p>
          <a:p>
            <a:r>
              <a:rPr lang="en-IN" sz="1200"/>
              <a:t>Stand in registration queues </a:t>
            </a:r>
          </a:p>
          <a:p>
            <a:r>
              <a:rPr lang="en-IN" sz="1200"/>
              <a:t>Call hospital reception (often unanswered) </a:t>
            </a:r>
          </a:p>
          <a:p>
            <a:r>
              <a:rPr lang="en-IN" sz="1200"/>
              <a:t>Depend on others for information </a:t>
            </a:r>
          </a:p>
          <a:p>
            <a:r>
              <a:rPr lang="en-IN" sz="1200"/>
              <a:t>Return another day if appointments are full </a:t>
            </a:r>
          </a:p>
          <a:p>
            <a:pPr marL="0" indent="0">
              <a:lnSpc>
                <a:spcPct val="95000"/>
              </a:lnSpc>
              <a:buNone/>
            </a:pPr>
            <a:endParaRPr lang="en-US" sz="1200"/>
          </a:p>
        </p:txBody>
      </p:sp>
      <p:sp>
        <p:nvSpPr>
          <p:cNvPr id="17" name="Shape 13"/>
          <p:cNvSpPr/>
          <p:nvPr/>
        </p:nvSpPr>
        <p:spPr>
          <a:xfrm>
            <a:off x="502920" y="4242816"/>
            <a:ext cx="3602736" cy="1554480"/>
          </a:xfrm>
          <a:prstGeom prst="roundRect">
            <a:avLst>
              <a:gd name="adj" fmla="val 4118"/>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18" name="Text 14"/>
          <p:cNvSpPr/>
          <p:nvPr/>
        </p:nvSpPr>
        <p:spPr>
          <a:xfrm>
            <a:off x="704088" y="4389120"/>
            <a:ext cx="3236976"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CUSTOMERS</a:t>
            </a:r>
            <a:endParaRPr lang="en-US" sz="1350"/>
          </a:p>
        </p:txBody>
      </p:sp>
      <p:sp>
        <p:nvSpPr>
          <p:cNvPr id="19" name="Text 15"/>
          <p:cNvSpPr/>
          <p:nvPr/>
        </p:nvSpPr>
        <p:spPr>
          <a:xfrm>
            <a:off x="731520" y="5038149"/>
            <a:ext cx="3236976" cy="457200"/>
          </a:xfrm>
          <a:prstGeom prst="rect">
            <a:avLst/>
          </a:prstGeom>
          <a:noFill/>
          <a:ln/>
        </p:spPr>
        <p:txBody>
          <a:bodyPr wrap="square" lIns="0" tIns="0" rIns="0" bIns="0" rtlCol="0" anchor="ctr"/>
          <a:lstStyle/>
          <a:p>
            <a:r>
              <a:rPr lang="en-IN" sz="1200"/>
              <a:t>Patients visiting government hospitals, especially:</a:t>
            </a:r>
          </a:p>
          <a:p>
            <a:r>
              <a:rPr lang="en-IN" sz="1200"/>
              <a:t>Elderly people </a:t>
            </a:r>
          </a:p>
          <a:p>
            <a:r>
              <a:rPr lang="en-IN" sz="1200"/>
              <a:t>Rural residents </a:t>
            </a:r>
          </a:p>
          <a:p>
            <a:r>
              <a:rPr lang="en-IN" sz="1200"/>
              <a:t>Daily wage workers </a:t>
            </a:r>
          </a:p>
          <a:p>
            <a:r>
              <a:rPr lang="en-IN" sz="1200"/>
              <a:t>Women with children </a:t>
            </a:r>
          </a:p>
          <a:p>
            <a:r>
              <a:rPr lang="en-IN" sz="1200"/>
              <a:t>Patients requiring frequent follow-up visits </a:t>
            </a:r>
          </a:p>
          <a:p>
            <a:pPr marL="0" indent="0">
              <a:lnSpc>
                <a:spcPct val="95000"/>
              </a:lnSpc>
              <a:buNone/>
            </a:pPr>
            <a:endParaRPr lang="en-US" sz="1200"/>
          </a:p>
        </p:txBody>
      </p:sp>
      <p:sp>
        <p:nvSpPr>
          <p:cNvPr id="20" name="Shape 16"/>
          <p:cNvSpPr/>
          <p:nvPr/>
        </p:nvSpPr>
        <p:spPr>
          <a:xfrm>
            <a:off x="4288536" y="4242816"/>
            <a:ext cx="3602736" cy="1554480"/>
          </a:xfrm>
          <a:prstGeom prst="roundRect">
            <a:avLst>
              <a:gd name="adj" fmla="val 4118"/>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txBody>
          <a:bodyPr/>
          <a:lstStyle/>
          <a:p>
            <a:endParaRPr lang="en-IN"/>
          </a:p>
        </p:txBody>
      </p:sp>
      <p:sp>
        <p:nvSpPr>
          <p:cNvPr id="21" name="Text 17"/>
          <p:cNvSpPr/>
          <p:nvPr/>
        </p:nvSpPr>
        <p:spPr>
          <a:xfrm>
            <a:off x="4489704" y="4389120"/>
            <a:ext cx="3236976"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EMOTIONAL IMPACT</a:t>
            </a:r>
            <a:endParaRPr lang="en-US" sz="1350"/>
          </a:p>
        </p:txBody>
      </p:sp>
      <p:sp>
        <p:nvSpPr>
          <p:cNvPr id="22" name="Text 18"/>
          <p:cNvSpPr/>
          <p:nvPr/>
        </p:nvSpPr>
        <p:spPr>
          <a:xfrm>
            <a:off x="4507992" y="4736592"/>
            <a:ext cx="3236976" cy="457200"/>
          </a:xfrm>
          <a:prstGeom prst="rect">
            <a:avLst/>
          </a:prstGeom>
          <a:noFill/>
          <a:ln/>
        </p:spPr>
        <p:txBody>
          <a:bodyPr wrap="square" lIns="0" tIns="0" rIns="0" bIns="0" rtlCol="0" anchor="ctr"/>
          <a:lstStyle/>
          <a:p>
            <a:endParaRPr lang="en-IN" sz="1000"/>
          </a:p>
          <a:p>
            <a:r>
              <a:rPr lang="en-IN" sz="1000"/>
              <a:t>Frustrated </a:t>
            </a:r>
          </a:p>
          <a:p>
            <a:r>
              <a:rPr lang="en-IN" sz="1000"/>
              <a:t>Stressed </a:t>
            </a:r>
          </a:p>
          <a:p>
            <a:r>
              <a:rPr lang="en-IN" sz="1000"/>
              <a:t>Anxious </a:t>
            </a:r>
          </a:p>
          <a:p>
            <a:r>
              <a:rPr lang="en-IN" sz="1000"/>
              <a:t>Uncertain whether they will meet the doctor</a:t>
            </a:r>
          </a:p>
          <a:p>
            <a:pPr marL="0" indent="0">
              <a:lnSpc>
                <a:spcPct val="95000"/>
              </a:lnSpc>
              <a:buNone/>
            </a:pPr>
            <a:endParaRPr lang="en-US" sz="1000"/>
          </a:p>
        </p:txBody>
      </p:sp>
      <p:sp>
        <p:nvSpPr>
          <p:cNvPr id="23" name="Text 19"/>
          <p:cNvSpPr/>
          <p:nvPr/>
        </p:nvSpPr>
        <p:spPr>
          <a:xfrm>
            <a:off x="4489704" y="5230368"/>
            <a:ext cx="3236976" cy="274320"/>
          </a:xfrm>
          <a:prstGeom prst="rect">
            <a:avLst/>
          </a:prstGeom>
          <a:noFill/>
          <a:ln/>
        </p:spPr>
        <p:txBody>
          <a:bodyPr wrap="square" lIns="0" tIns="0" rIns="0" bIns="0" rtlCol="0" anchor="ctr"/>
          <a:lstStyle/>
          <a:p>
            <a:pPr marL="0" indent="0">
              <a:buNone/>
            </a:pPr>
            <a:r>
              <a:rPr lang="en-US" sz="1150" b="1">
                <a:solidFill>
                  <a:srgbClr val="1C52C2"/>
                </a:solidFill>
                <a:latin typeface="Calibri" pitchFamily="34" charset="0"/>
                <a:ea typeface="Calibri" pitchFamily="34" charset="-122"/>
                <a:cs typeface="Calibri" pitchFamily="34" charset="-120"/>
              </a:rPr>
              <a:t>QUANTIFIABLE IMPACT</a:t>
            </a:r>
            <a:endParaRPr lang="en-US" sz="1150"/>
          </a:p>
        </p:txBody>
      </p:sp>
      <p:sp>
        <p:nvSpPr>
          <p:cNvPr id="24" name="Text 20"/>
          <p:cNvSpPr/>
          <p:nvPr/>
        </p:nvSpPr>
        <p:spPr>
          <a:xfrm>
            <a:off x="4489704" y="5486400"/>
            <a:ext cx="3236976" cy="274320"/>
          </a:xfrm>
          <a:prstGeom prst="rect">
            <a:avLst/>
          </a:prstGeom>
          <a:noFill/>
          <a:ln/>
        </p:spPr>
        <p:txBody>
          <a:bodyPr wrap="square" lIns="0" tIns="0" rIns="0" bIns="0" rtlCol="0" anchor="ctr"/>
          <a:lstStyle/>
          <a:p>
            <a:pPr marL="0" indent="0">
              <a:buNone/>
            </a:pPr>
            <a:endParaRPr lang="en-US" sz="1000"/>
          </a:p>
        </p:txBody>
      </p:sp>
      <p:sp>
        <p:nvSpPr>
          <p:cNvPr id="25" name="Shape 21"/>
          <p:cNvSpPr/>
          <p:nvPr/>
        </p:nvSpPr>
        <p:spPr>
          <a:xfrm>
            <a:off x="8074152" y="4242816"/>
            <a:ext cx="3602736" cy="1554480"/>
          </a:xfrm>
          <a:prstGeom prst="roundRect">
            <a:avLst>
              <a:gd name="adj" fmla="val 4118"/>
            </a:avLst>
          </a:prstGeom>
          <a:solidFill>
            <a:srgbClr val="F5F7FB"/>
          </a:solidFill>
          <a:ln w="12700">
            <a:solidFill>
              <a:srgbClr val="DFE4EE"/>
            </a:solidFill>
            <a:prstDash val="solid"/>
          </a:ln>
          <a:effectLst>
            <a:outerShdw blurRad="88900" dist="38100" dir="5400000" algn="bl" rotWithShape="0">
              <a:srgbClr val="071A45">
                <a:alpha val="12000"/>
              </a:srgbClr>
            </a:outerShdw>
          </a:effectLst>
        </p:spPr>
      </p:sp>
      <p:sp>
        <p:nvSpPr>
          <p:cNvPr id="26" name="Text 22"/>
          <p:cNvSpPr/>
          <p:nvPr/>
        </p:nvSpPr>
        <p:spPr>
          <a:xfrm>
            <a:off x="8275320" y="4389120"/>
            <a:ext cx="3236976" cy="310896"/>
          </a:xfrm>
          <a:prstGeom prst="rect">
            <a:avLst/>
          </a:prstGeom>
          <a:noFill/>
          <a:ln/>
        </p:spPr>
        <p:txBody>
          <a:bodyPr wrap="square" lIns="0" tIns="0" rIns="0" bIns="0" rtlCol="0" anchor="ctr"/>
          <a:lstStyle/>
          <a:p>
            <a:pPr marL="0" indent="0">
              <a:buNone/>
            </a:pPr>
            <a:r>
              <a:rPr lang="en-US" sz="1350" b="1">
                <a:solidFill>
                  <a:srgbClr val="1C52C2"/>
                </a:solidFill>
                <a:latin typeface="Calibri" pitchFamily="34" charset="0"/>
                <a:ea typeface="Calibri" pitchFamily="34" charset="-122"/>
                <a:cs typeface="Calibri" pitchFamily="34" charset="-120"/>
              </a:rPr>
              <a:t>ALTERNATIVE SHORTCOMINGS</a:t>
            </a:r>
            <a:endParaRPr lang="en-US" sz="1350"/>
          </a:p>
        </p:txBody>
      </p:sp>
      <p:sp>
        <p:nvSpPr>
          <p:cNvPr id="27" name="Text 23"/>
          <p:cNvSpPr/>
          <p:nvPr/>
        </p:nvSpPr>
        <p:spPr>
          <a:xfrm>
            <a:off x="8275320" y="4700016"/>
            <a:ext cx="3236976" cy="457200"/>
          </a:xfrm>
          <a:prstGeom prst="rect">
            <a:avLst/>
          </a:prstGeom>
          <a:noFill/>
          <a:ln/>
        </p:spPr>
        <p:txBody>
          <a:bodyPr wrap="square" lIns="0" tIns="0" rIns="0" bIns="0" rtlCol="0" anchor="ctr"/>
          <a:lstStyle/>
          <a:p>
            <a:pPr marL="0" indent="0">
              <a:lnSpc>
                <a:spcPct val="95000"/>
              </a:lnSpc>
              <a:buNone/>
            </a:pPr>
            <a:endParaRPr lang="en-US" sz="1000"/>
          </a:p>
        </p:txBody>
      </p:sp>
      <p:sp>
        <p:nvSpPr>
          <p:cNvPr id="28" name="Shape 24"/>
          <p:cNvSpPr/>
          <p:nvPr/>
        </p:nvSpPr>
        <p:spPr>
          <a:xfrm>
            <a:off x="502920" y="5943600"/>
            <a:ext cx="11183112" cy="457200"/>
          </a:xfrm>
          <a:prstGeom prst="roundRect">
            <a:avLst>
              <a:gd name="adj" fmla="val 20000"/>
            </a:avLst>
          </a:prstGeom>
          <a:solidFill>
            <a:srgbClr val="FFF6DD"/>
          </a:solidFill>
          <a:ln w="12700">
            <a:solidFill>
              <a:srgbClr val="F2D98A"/>
            </a:solidFill>
            <a:prstDash val="solid"/>
          </a:ln>
          <a:effectLst>
            <a:outerShdw blurRad="88900" dist="38100" dir="5400000" algn="bl" rotWithShape="0">
              <a:srgbClr val="071A45">
                <a:alpha val="12000"/>
              </a:srgbClr>
            </a:outerShdw>
          </a:effectLst>
        </p:spPr>
      </p:sp>
      <p:sp>
        <p:nvSpPr>
          <p:cNvPr id="29" name="Text 25"/>
          <p:cNvSpPr/>
          <p:nvPr/>
        </p:nvSpPr>
        <p:spPr>
          <a:xfrm>
            <a:off x="777240" y="5943600"/>
            <a:ext cx="10607040" cy="457200"/>
          </a:xfrm>
          <a:prstGeom prst="rect">
            <a:avLst/>
          </a:prstGeom>
          <a:noFill/>
          <a:ln/>
        </p:spPr>
        <p:txBody>
          <a:bodyPr wrap="square" lIns="0" tIns="0" rIns="0" bIns="0" rtlCol="0" anchor="ctr"/>
          <a:lstStyle/>
          <a:p>
            <a:pPr marL="0" indent="0">
              <a:buNone/>
            </a:pPr>
            <a:r>
              <a:rPr lang="en-US" sz="1250" b="1">
                <a:solidFill>
                  <a:srgbClr val="B5891E"/>
                </a:solidFill>
                <a:latin typeface="Calibri" pitchFamily="34" charset="0"/>
                <a:ea typeface="Calibri" pitchFamily="34" charset="-122"/>
                <a:cs typeface="Calibri" pitchFamily="34" charset="-120"/>
              </a:rPr>
              <a:t>▶  </a:t>
            </a:r>
            <a:r>
              <a:rPr lang="en-US" sz="1250" b="1">
                <a:solidFill>
                  <a:srgbClr val="7A5E16"/>
                </a:solidFill>
                <a:latin typeface="Calibri" pitchFamily="34" charset="0"/>
                <a:ea typeface="Calibri" pitchFamily="34" charset="-122"/>
                <a:cs typeface="Calibri" pitchFamily="34" charset="-120"/>
              </a:rPr>
              <a:t>Present your completed Problem Statement Canvas to your reviewers.</a:t>
            </a:r>
            <a:endParaRPr lang="en-US" sz="1250"/>
          </a:p>
        </p:txBody>
      </p:sp>
      <p:pic>
        <p:nvPicPr>
          <p:cNvPr id="31" name="Picture 30">
            <a:extLst>
              <a:ext uri="{FF2B5EF4-FFF2-40B4-BE49-F238E27FC236}">
                <a16:creationId xmlns:a16="http://schemas.microsoft.com/office/drawing/2014/main" id="{98F2F3BC-1671-CF6C-C187-264C18E21B47}"/>
              </a:ext>
            </a:extLst>
          </p:cNvPr>
          <p:cNvPicPr>
            <a:picLocks noChangeAspect="1"/>
          </p:cNvPicPr>
          <p:nvPr/>
        </p:nvPicPr>
        <p:blipFill>
          <a:blip r:embed="rId4"/>
          <a:stretch>
            <a:fillRect/>
          </a:stretch>
        </p:blipFill>
        <p:spPr>
          <a:xfrm>
            <a:off x="10363654" y="371776"/>
            <a:ext cx="1325426" cy="603504"/>
          </a:xfrm>
          <a:prstGeom prst="rect">
            <a:avLst/>
          </a:prstGeom>
        </p:spPr>
      </p:pic>
      <p:sp>
        <p:nvSpPr>
          <p:cNvPr id="3" name="TextBox 2">
            <a:extLst>
              <a:ext uri="{FF2B5EF4-FFF2-40B4-BE49-F238E27FC236}">
                <a16:creationId xmlns:a16="http://schemas.microsoft.com/office/drawing/2014/main" id="{9FA740C7-2E81-673C-1095-133400A744DC}"/>
              </a:ext>
            </a:extLst>
          </p:cNvPr>
          <p:cNvSpPr txBox="1"/>
          <p:nvPr/>
        </p:nvSpPr>
        <p:spPr>
          <a:xfrm>
            <a:off x="4489704" y="2932759"/>
            <a:ext cx="3068687" cy="1200329"/>
          </a:xfrm>
          <a:prstGeom prst="rect">
            <a:avLst/>
          </a:prstGeom>
          <a:noFill/>
        </p:spPr>
        <p:txBody>
          <a:bodyPr wrap="square" rtlCol="0">
            <a:spAutoFit/>
          </a:bodyPr>
          <a:lstStyle/>
          <a:p>
            <a:r>
              <a:rPr lang="en-IN" sz="1200"/>
              <a:t>Government hospitals mainly rely on manual registration, leading to overcrowding, long waiting times, inefficient appointment management, and poor communication regarding doctor schedules.</a:t>
            </a:r>
          </a:p>
          <a:p>
            <a:endParaRPr lang="en-IN" sz="1200"/>
          </a:p>
        </p:txBody>
      </p:sp>
      <p:sp>
        <p:nvSpPr>
          <p:cNvPr id="30" name="TextBox 29">
            <a:extLst>
              <a:ext uri="{FF2B5EF4-FFF2-40B4-BE49-F238E27FC236}">
                <a16:creationId xmlns:a16="http://schemas.microsoft.com/office/drawing/2014/main" id="{3C7C01CE-10F6-7525-5196-4A826730054A}"/>
              </a:ext>
            </a:extLst>
          </p:cNvPr>
          <p:cNvSpPr txBox="1"/>
          <p:nvPr/>
        </p:nvSpPr>
        <p:spPr>
          <a:xfrm>
            <a:off x="4489704" y="5449824"/>
            <a:ext cx="3068687" cy="246221"/>
          </a:xfrm>
          <a:prstGeom prst="rect">
            <a:avLst/>
          </a:prstGeom>
          <a:noFill/>
        </p:spPr>
        <p:txBody>
          <a:bodyPr wrap="square" rtlCol="0">
            <a:spAutoFit/>
          </a:bodyPr>
          <a:lstStyle/>
          <a:p>
            <a:r>
              <a:rPr lang="en-IN" sz="1000"/>
              <a:t>Reducing the Waiting time: </a:t>
            </a:r>
            <a:r>
              <a:rPr lang="en-IN" sz="1000" b="1"/>
              <a:t>2–6 hours</a:t>
            </a:r>
            <a:r>
              <a:rPr lang="en-IN" sz="1000"/>
              <a:t> </a:t>
            </a:r>
          </a:p>
        </p:txBody>
      </p:sp>
      <p:sp>
        <p:nvSpPr>
          <p:cNvPr id="32" name="TextBox 31">
            <a:extLst>
              <a:ext uri="{FF2B5EF4-FFF2-40B4-BE49-F238E27FC236}">
                <a16:creationId xmlns:a16="http://schemas.microsoft.com/office/drawing/2014/main" id="{8BB8EE6F-C6A1-12CB-FE01-DE460CF29547}"/>
              </a:ext>
            </a:extLst>
          </p:cNvPr>
          <p:cNvSpPr txBox="1"/>
          <p:nvPr/>
        </p:nvSpPr>
        <p:spPr>
          <a:xfrm>
            <a:off x="8275320" y="4805464"/>
            <a:ext cx="3185160" cy="830997"/>
          </a:xfrm>
          <a:prstGeom prst="rect">
            <a:avLst/>
          </a:prstGeom>
          <a:noFill/>
        </p:spPr>
        <p:txBody>
          <a:bodyPr wrap="square" rtlCol="0">
            <a:spAutoFit/>
          </a:bodyPr>
          <a:lstStyle/>
          <a:p>
            <a:r>
              <a:rPr lang="en-IN" sz="1200"/>
              <a:t>No real-time appointment availability Long queues and overcrowding Time-consuming manual registration No notification if a doctor is unavailable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a:solidFill>
                  <a:srgbClr val="071A45"/>
                </a:solidFill>
                <a:latin typeface="Calibri" pitchFamily="34" charset="0"/>
                <a:ea typeface="Calibri" pitchFamily="34" charset="-122"/>
                <a:cs typeface="Calibri" pitchFamily="34" charset="-120"/>
              </a:rPr>
              <a:t>Our Problem Statement</a:t>
            </a:r>
            <a:endParaRPr lang="en-US" sz="2900"/>
          </a:p>
        </p:txBody>
      </p:sp>
      <p:sp>
        <p:nvSpPr>
          <p:cNvPr id="5" name="Shape 1"/>
          <p:cNvSpPr/>
          <p:nvPr/>
        </p:nvSpPr>
        <p:spPr>
          <a:xfrm>
            <a:off x="640080" y="1828800"/>
            <a:ext cx="10908792" cy="1965960"/>
          </a:xfrm>
          <a:prstGeom prst="roundRect">
            <a:avLst>
              <a:gd name="adj" fmla="val 4651"/>
            </a:avLst>
          </a:prstGeom>
          <a:solidFill>
            <a:srgbClr val="071A45"/>
          </a:solidFill>
          <a:ln/>
          <a:effectLst>
            <a:outerShdw blurRad="88900" dist="38100" dir="5400000" algn="bl" rotWithShape="0">
              <a:srgbClr val="071A45">
                <a:alpha val="12000"/>
              </a:srgbClr>
            </a:outerShdw>
          </a:effectLst>
        </p:spPr>
        <p:txBody>
          <a:bodyPr/>
          <a:lstStyle/>
          <a:p>
            <a:endParaRPr lang="en-IN"/>
          </a:p>
        </p:txBody>
      </p:sp>
      <p:sp>
        <p:nvSpPr>
          <p:cNvPr id="6" name="Text 2"/>
          <p:cNvSpPr/>
          <p:nvPr/>
        </p:nvSpPr>
        <p:spPr>
          <a:xfrm>
            <a:off x="960120" y="2084832"/>
            <a:ext cx="9144000" cy="320040"/>
          </a:xfrm>
          <a:prstGeom prst="rect">
            <a:avLst/>
          </a:prstGeom>
          <a:noFill/>
          <a:ln/>
        </p:spPr>
        <p:txBody>
          <a:bodyPr wrap="square" lIns="0" tIns="0" rIns="0" bIns="0" rtlCol="0" anchor="ctr"/>
          <a:lstStyle/>
          <a:p>
            <a:pPr marL="0" indent="0">
              <a:buNone/>
            </a:pPr>
            <a:r>
              <a:rPr lang="en-US" sz="1300" b="1" kern="0" spc="200">
                <a:solidFill>
                  <a:srgbClr val="FFC01E"/>
                </a:solidFill>
                <a:latin typeface="Calibri" pitchFamily="34" charset="0"/>
                <a:ea typeface="Calibri" pitchFamily="34" charset="-122"/>
                <a:cs typeface="Calibri" pitchFamily="34" charset="-120"/>
              </a:rPr>
              <a:t>FINAL PROBLEM STATEMENT</a:t>
            </a:r>
            <a:endParaRPr lang="en-US" sz="1300"/>
          </a:p>
        </p:txBody>
      </p:sp>
      <p:sp>
        <p:nvSpPr>
          <p:cNvPr id="7" name="Text 3"/>
          <p:cNvSpPr/>
          <p:nvPr/>
        </p:nvSpPr>
        <p:spPr>
          <a:xfrm>
            <a:off x="1613263" y="2645229"/>
            <a:ext cx="10241280" cy="1143000"/>
          </a:xfrm>
          <a:prstGeom prst="rect">
            <a:avLst/>
          </a:prstGeom>
          <a:noFill/>
          <a:ln/>
        </p:spPr>
        <p:txBody>
          <a:bodyPr wrap="square" lIns="0" tIns="0" rIns="0" bIns="0" rtlCol="0" anchor="ctr"/>
          <a:lstStyle/>
          <a:p>
            <a:pPr marL="0" indent="0">
              <a:lnSpc>
                <a:spcPct val="105000"/>
              </a:lnSpc>
              <a:buNone/>
            </a:pPr>
            <a:endParaRPr lang="en-US" sz="2600">
              <a:solidFill>
                <a:schemeClr val="bg1"/>
              </a:solidFill>
            </a:endParaRPr>
          </a:p>
        </p:txBody>
      </p:sp>
      <p:sp>
        <p:nvSpPr>
          <p:cNvPr id="8" name="Shape 4"/>
          <p:cNvSpPr/>
          <p:nvPr/>
        </p:nvSpPr>
        <p:spPr>
          <a:xfrm>
            <a:off x="640080" y="4023360"/>
            <a:ext cx="10908792" cy="1920240"/>
          </a:xfrm>
          <a:prstGeom prst="roundRect">
            <a:avLst>
              <a:gd name="adj" fmla="val 4762"/>
            </a:avLst>
          </a:prstGeom>
          <a:solidFill>
            <a:srgbClr val="FFF6DD"/>
          </a:solidFill>
          <a:ln w="12700">
            <a:solidFill>
              <a:srgbClr val="F2D98A"/>
            </a:solidFill>
            <a:prstDash val="solid"/>
          </a:ln>
          <a:effectLst>
            <a:outerShdw blurRad="88900" dist="38100" dir="5400000" algn="bl" rotWithShape="0">
              <a:srgbClr val="071A45">
                <a:alpha val="12000"/>
              </a:srgbClr>
            </a:outerShdw>
          </a:effectLst>
        </p:spPr>
      </p:sp>
      <p:pic>
        <p:nvPicPr>
          <p:cNvPr id="9" name="Image 2" descr="preencoded.png"/>
          <p:cNvPicPr>
            <a:picLocks noChangeAspect="1"/>
          </p:cNvPicPr>
          <p:nvPr/>
        </p:nvPicPr>
        <p:blipFill>
          <a:blip r:embed="rId4"/>
          <a:stretch>
            <a:fillRect/>
          </a:stretch>
        </p:blipFill>
        <p:spPr>
          <a:xfrm>
            <a:off x="932688" y="4279392"/>
            <a:ext cx="384048" cy="384048"/>
          </a:xfrm>
          <a:prstGeom prst="rect">
            <a:avLst/>
          </a:prstGeom>
        </p:spPr>
      </p:pic>
      <p:sp>
        <p:nvSpPr>
          <p:cNvPr id="10" name="Text 5"/>
          <p:cNvSpPr/>
          <p:nvPr/>
        </p:nvSpPr>
        <p:spPr>
          <a:xfrm>
            <a:off x="1444752" y="4261104"/>
            <a:ext cx="9875520" cy="365760"/>
          </a:xfrm>
          <a:prstGeom prst="rect">
            <a:avLst/>
          </a:prstGeom>
          <a:noFill/>
          <a:ln/>
        </p:spPr>
        <p:txBody>
          <a:bodyPr wrap="square" lIns="0" tIns="0" rIns="0" bIns="0" rtlCol="0" anchor="ctr"/>
          <a:lstStyle/>
          <a:p>
            <a:pPr marL="0" indent="0">
              <a:buNone/>
            </a:pPr>
            <a:r>
              <a:rPr lang="en-US" sz="1400" b="1">
                <a:solidFill>
                  <a:srgbClr val="9A6B12"/>
                </a:solidFill>
                <a:latin typeface="Calibri" pitchFamily="34" charset="0"/>
                <a:ea typeface="Calibri" pitchFamily="34" charset="-122"/>
                <a:cs typeface="Calibri" pitchFamily="34" charset="-120"/>
              </a:rPr>
              <a:t>HOW MIGHT WE (HMW)  —  turn the problem into an opportunity</a:t>
            </a:r>
            <a:endParaRPr lang="en-US" sz="1400"/>
          </a:p>
        </p:txBody>
      </p:sp>
      <p:sp>
        <p:nvSpPr>
          <p:cNvPr id="11" name="Text 6"/>
          <p:cNvSpPr/>
          <p:nvPr/>
        </p:nvSpPr>
        <p:spPr>
          <a:xfrm>
            <a:off x="960120" y="4800600"/>
            <a:ext cx="10241280" cy="1005840"/>
          </a:xfrm>
          <a:prstGeom prst="rect">
            <a:avLst/>
          </a:prstGeom>
          <a:noFill/>
          <a:ln/>
        </p:spPr>
        <p:txBody>
          <a:bodyPr wrap="square" lIns="0" tIns="0" rIns="0" bIns="0" rtlCol="0" anchor="ctr"/>
          <a:lstStyle/>
          <a:p>
            <a:pPr marL="0" indent="0">
              <a:lnSpc>
                <a:spcPct val="105000"/>
              </a:lnSpc>
              <a:buNone/>
            </a:pPr>
            <a:r>
              <a:rPr lang="en-US" sz="2100" b="1">
                <a:solidFill>
                  <a:srgbClr val="5A4A1E"/>
                </a:solidFill>
                <a:latin typeface="Calibri" pitchFamily="34" charset="0"/>
                <a:ea typeface="Calibri" pitchFamily="34" charset="-122"/>
                <a:cs typeface="Calibri" pitchFamily="34" charset="-120"/>
              </a:rPr>
              <a:t>We help patients by providing an easy accessible appointment scheduling system </a:t>
            </a:r>
            <a:r>
              <a:rPr lang="en-US" sz="2100" b="1" err="1">
                <a:solidFill>
                  <a:srgbClr val="5A4A1E"/>
                </a:solidFill>
                <a:latin typeface="Calibri" pitchFamily="34" charset="0"/>
                <a:ea typeface="Calibri" pitchFamily="34" charset="-122"/>
                <a:cs typeface="Calibri" pitchFamily="34" charset="-120"/>
              </a:rPr>
              <a:t>i.e</a:t>
            </a:r>
            <a:r>
              <a:rPr lang="en-US" sz="2100" b="1">
                <a:solidFill>
                  <a:srgbClr val="5A4A1E"/>
                </a:solidFill>
                <a:latin typeface="Calibri" pitchFamily="34" charset="0"/>
                <a:ea typeface="Calibri" pitchFamily="34" charset="-122"/>
                <a:cs typeface="Calibri" pitchFamily="34" charset="-120"/>
              </a:rPr>
              <a:t> I-KRET(I Kindly Request Even Treatment). It will ensure the certainty in the appointment timing.</a:t>
            </a:r>
            <a:endParaRPr lang="en-US" sz="2100"/>
          </a:p>
        </p:txBody>
      </p:sp>
      <p:sp>
        <p:nvSpPr>
          <p:cNvPr id="12" name="Text 7"/>
          <p:cNvSpPr/>
          <p:nvPr/>
        </p:nvSpPr>
        <p:spPr>
          <a:xfrm>
            <a:off x="502920" y="6455664"/>
            <a:ext cx="8229600" cy="274320"/>
          </a:xfrm>
          <a:prstGeom prst="rect">
            <a:avLst/>
          </a:prstGeom>
          <a:noFill/>
          <a:ln/>
        </p:spPr>
        <p:txBody>
          <a:bodyPr wrap="square" lIns="0" tIns="0" rIns="0" bIns="0" rtlCol="0" anchor="ctr"/>
          <a:lstStyle/>
          <a:p>
            <a:pPr marL="0" indent="0">
              <a:buNone/>
            </a:pPr>
            <a:r>
              <a:rPr lang="en-US" sz="900">
                <a:solidFill>
                  <a:srgbClr val="AAB2C5"/>
                </a:solidFill>
                <a:latin typeface="Calibri" pitchFamily="34" charset="0"/>
                <a:ea typeface="Calibri" pitchFamily="34" charset="-122"/>
                <a:cs typeface="Calibri" pitchFamily="34" charset="-120"/>
              </a:rPr>
              <a:t>Sri Eshwar College of Engineering  ·  Design Thinking &amp; Innovation</a:t>
            </a:r>
            <a:endParaRPr lang="en-US" sz="900"/>
          </a:p>
        </p:txBody>
      </p:sp>
      <p:pic>
        <p:nvPicPr>
          <p:cNvPr id="14" name="Picture 13">
            <a:extLst>
              <a:ext uri="{FF2B5EF4-FFF2-40B4-BE49-F238E27FC236}">
                <a16:creationId xmlns:a16="http://schemas.microsoft.com/office/drawing/2014/main" id="{39BC0592-4B1B-5A95-2F3E-13C3A5A660F2}"/>
              </a:ext>
            </a:extLst>
          </p:cNvPr>
          <p:cNvPicPr>
            <a:picLocks noChangeAspect="1"/>
          </p:cNvPicPr>
          <p:nvPr/>
        </p:nvPicPr>
        <p:blipFill>
          <a:blip r:embed="rId5"/>
          <a:stretch>
            <a:fillRect/>
          </a:stretch>
        </p:blipFill>
        <p:spPr>
          <a:xfrm>
            <a:off x="10363654" y="371776"/>
            <a:ext cx="1325426" cy="603504"/>
          </a:xfrm>
          <a:prstGeom prst="rect">
            <a:avLst/>
          </a:prstGeom>
        </p:spPr>
      </p:pic>
      <p:sp>
        <p:nvSpPr>
          <p:cNvPr id="3" name="TextBox 2">
            <a:extLst>
              <a:ext uri="{FF2B5EF4-FFF2-40B4-BE49-F238E27FC236}">
                <a16:creationId xmlns:a16="http://schemas.microsoft.com/office/drawing/2014/main" id="{416AD20A-22FF-402C-6125-434340A0C0D1}"/>
              </a:ext>
            </a:extLst>
          </p:cNvPr>
          <p:cNvSpPr txBox="1"/>
          <p:nvPr/>
        </p:nvSpPr>
        <p:spPr>
          <a:xfrm>
            <a:off x="1019774" y="2500086"/>
            <a:ext cx="10147116" cy="923330"/>
          </a:xfrm>
          <a:prstGeom prst="rect">
            <a:avLst/>
          </a:prstGeom>
          <a:noFill/>
        </p:spPr>
        <p:txBody>
          <a:bodyPr wrap="square" rtlCol="0">
            <a:spAutoFit/>
          </a:bodyPr>
          <a:lstStyle/>
          <a:p>
            <a:r>
              <a:rPr lang="en-IN" b="1">
                <a:solidFill>
                  <a:schemeClr val="bg1"/>
                </a:solidFill>
              </a:rPr>
              <a:t>I-KRET (AI-Integrated  Medical Appointment Scheduling System)</a:t>
            </a:r>
            <a:r>
              <a:rPr lang="en-IN">
                <a:solidFill>
                  <a:schemeClr val="bg1"/>
                </a:solidFill>
              </a:rPr>
              <a:t> aims to address these challenges by leveraging Artificial Intelligence to automate appointment scheduling, prioritize patients based on the urgency of their medical conditions, predict waiting times, and dynamically manage hospital queues.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assets/logo_new.png"/>
          <p:cNvPicPr>
            <a:picLocks noChangeAspect="1"/>
          </p:cNvPicPr>
          <p:nvPr/>
        </p:nvPicPr>
        <p:blipFill>
          <a:blip r:embed="rId3"/>
          <a:stretch>
            <a:fillRect/>
          </a:stretch>
        </p:blipFill>
        <p:spPr>
          <a:xfrm>
            <a:off x="502920" y="237744"/>
            <a:ext cx="2212848" cy="616306"/>
          </a:xfrm>
          <a:prstGeom prst="rect">
            <a:avLst/>
          </a:prstGeom>
        </p:spPr>
      </p:pic>
      <p:sp>
        <p:nvSpPr>
          <p:cNvPr id="4" name="Text 0"/>
          <p:cNvSpPr/>
          <p:nvPr/>
        </p:nvSpPr>
        <p:spPr>
          <a:xfrm>
            <a:off x="502920" y="914400"/>
            <a:ext cx="8595360" cy="603504"/>
          </a:xfrm>
          <a:prstGeom prst="rect">
            <a:avLst/>
          </a:prstGeom>
          <a:noFill/>
          <a:ln/>
        </p:spPr>
        <p:txBody>
          <a:bodyPr wrap="square" lIns="0" tIns="0" rIns="0" bIns="0" rtlCol="0" anchor="ctr"/>
          <a:lstStyle/>
          <a:p>
            <a:pPr marL="0" indent="0">
              <a:buNone/>
            </a:pPr>
            <a:r>
              <a:rPr lang="en-US" sz="2900" b="1">
                <a:solidFill>
                  <a:srgbClr val="071A45"/>
                </a:solidFill>
                <a:latin typeface="Calibri" pitchFamily="34" charset="0"/>
                <a:ea typeface="Calibri" pitchFamily="34" charset="-122"/>
                <a:cs typeface="Calibri" pitchFamily="34" charset="-120"/>
              </a:rPr>
              <a:t>Mapping to the UN SDGs</a:t>
            </a:r>
            <a:endParaRPr lang="en-US" sz="2900"/>
          </a:p>
        </p:txBody>
      </p:sp>
      <p:sp>
        <p:nvSpPr>
          <p:cNvPr id="5" name="Text 1"/>
          <p:cNvSpPr/>
          <p:nvPr/>
        </p:nvSpPr>
        <p:spPr>
          <a:xfrm>
            <a:off x="502920" y="1481328"/>
            <a:ext cx="11155680" cy="365760"/>
          </a:xfrm>
          <a:prstGeom prst="rect">
            <a:avLst/>
          </a:prstGeom>
          <a:noFill/>
          <a:ln/>
        </p:spPr>
        <p:txBody>
          <a:bodyPr wrap="square" lIns="0" tIns="0" rIns="0" bIns="0" rtlCol="0" anchor="ctr"/>
          <a:lstStyle/>
          <a:p>
            <a:pPr marL="0" indent="0">
              <a:buNone/>
            </a:pPr>
            <a:r>
              <a:rPr lang="en-US" sz="1400">
                <a:solidFill>
                  <a:srgbClr val="5B6685"/>
                </a:solidFill>
                <a:latin typeface="Calibri" pitchFamily="34" charset="0"/>
                <a:ea typeface="Calibri" pitchFamily="34" charset="-122"/>
                <a:cs typeface="Calibri" pitchFamily="34" charset="-120"/>
              </a:rPr>
              <a:t>Which UN Sustainable Development Goal(s) does solving your problem help advance?</a:t>
            </a:r>
            <a:endParaRPr lang="en-US" sz="1400"/>
          </a:p>
        </p:txBody>
      </p:sp>
      <p:sp>
        <p:nvSpPr>
          <p:cNvPr id="6" name="Shape 2"/>
          <p:cNvSpPr/>
          <p:nvPr/>
        </p:nvSpPr>
        <p:spPr>
          <a:xfrm>
            <a:off x="640080" y="1965960"/>
            <a:ext cx="1792224" cy="841248"/>
          </a:xfrm>
          <a:prstGeom prst="roundRect">
            <a:avLst>
              <a:gd name="adj" fmla="val 5435"/>
            </a:avLst>
          </a:prstGeom>
          <a:solidFill>
            <a:srgbClr val="E5243B"/>
          </a:solidFill>
          <a:ln/>
        </p:spPr>
      </p:sp>
      <p:sp>
        <p:nvSpPr>
          <p:cNvPr id="7" name="Text 3"/>
          <p:cNvSpPr/>
          <p:nvPr/>
        </p:nvSpPr>
        <p:spPr>
          <a:xfrm>
            <a:off x="749808" y="2057400"/>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1</a:t>
            </a:r>
            <a:endParaRPr lang="en-US" sz="2000"/>
          </a:p>
        </p:txBody>
      </p:sp>
      <p:sp>
        <p:nvSpPr>
          <p:cNvPr id="8" name="Text 4"/>
          <p:cNvSpPr/>
          <p:nvPr/>
        </p:nvSpPr>
        <p:spPr>
          <a:xfrm>
            <a:off x="749808" y="2386584"/>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No Poverty</a:t>
            </a:r>
            <a:endParaRPr lang="en-US" sz="950"/>
          </a:p>
        </p:txBody>
      </p:sp>
      <p:sp>
        <p:nvSpPr>
          <p:cNvPr id="9" name="Shape 5"/>
          <p:cNvSpPr/>
          <p:nvPr/>
        </p:nvSpPr>
        <p:spPr>
          <a:xfrm>
            <a:off x="2496312" y="1965960"/>
            <a:ext cx="1792224" cy="841248"/>
          </a:xfrm>
          <a:prstGeom prst="roundRect">
            <a:avLst>
              <a:gd name="adj" fmla="val 5435"/>
            </a:avLst>
          </a:prstGeom>
          <a:solidFill>
            <a:srgbClr val="DDA63A"/>
          </a:solidFill>
          <a:ln/>
        </p:spPr>
      </p:sp>
      <p:sp>
        <p:nvSpPr>
          <p:cNvPr id="10" name="Text 6"/>
          <p:cNvSpPr/>
          <p:nvPr/>
        </p:nvSpPr>
        <p:spPr>
          <a:xfrm>
            <a:off x="2606040" y="2057400"/>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2</a:t>
            </a:r>
            <a:endParaRPr lang="en-US" sz="2000"/>
          </a:p>
        </p:txBody>
      </p:sp>
      <p:sp>
        <p:nvSpPr>
          <p:cNvPr id="11" name="Text 7"/>
          <p:cNvSpPr/>
          <p:nvPr/>
        </p:nvSpPr>
        <p:spPr>
          <a:xfrm>
            <a:off x="2606040" y="2386584"/>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Zero Hunger</a:t>
            </a:r>
            <a:endParaRPr lang="en-US" sz="950"/>
          </a:p>
        </p:txBody>
      </p:sp>
      <p:sp>
        <p:nvSpPr>
          <p:cNvPr id="12" name="Shape 8"/>
          <p:cNvSpPr/>
          <p:nvPr/>
        </p:nvSpPr>
        <p:spPr>
          <a:xfrm>
            <a:off x="4352544" y="1965960"/>
            <a:ext cx="1792224" cy="841248"/>
          </a:xfrm>
          <a:prstGeom prst="roundRect">
            <a:avLst>
              <a:gd name="adj" fmla="val 5435"/>
            </a:avLst>
          </a:prstGeom>
          <a:solidFill>
            <a:srgbClr val="4C9F38"/>
          </a:solidFill>
          <a:ln/>
        </p:spPr>
      </p:sp>
      <p:sp>
        <p:nvSpPr>
          <p:cNvPr id="13" name="Text 9"/>
          <p:cNvSpPr/>
          <p:nvPr/>
        </p:nvSpPr>
        <p:spPr>
          <a:xfrm>
            <a:off x="4462272" y="2057400"/>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3</a:t>
            </a:r>
            <a:endParaRPr lang="en-US" sz="2000"/>
          </a:p>
        </p:txBody>
      </p:sp>
      <p:sp>
        <p:nvSpPr>
          <p:cNvPr id="14" name="Text 10"/>
          <p:cNvSpPr/>
          <p:nvPr/>
        </p:nvSpPr>
        <p:spPr>
          <a:xfrm>
            <a:off x="4462272" y="2386584"/>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Good Health</a:t>
            </a:r>
            <a:endParaRPr lang="en-US" sz="950"/>
          </a:p>
        </p:txBody>
      </p:sp>
      <p:sp>
        <p:nvSpPr>
          <p:cNvPr id="15" name="Shape 11"/>
          <p:cNvSpPr/>
          <p:nvPr/>
        </p:nvSpPr>
        <p:spPr>
          <a:xfrm>
            <a:off x="6208776" y="1965960"/>
            <a:ext cx="1792224" cy="841248"/>
          </a:xfrm>
          <a:prstGeom prst="roundRect">
            <a:avLst>
              <a:gd name="adj" fmla="val 5435"/>
            </a:avLst>
          </a:prstGeom>
          <a:solidFill>
            <a:srgbClr val="C5192D"/>
          </a:solidFill>
          <a:ln/>
        </p:spPr>
      </p:sp>
      <p:sp>
        <p:nvSpPr>
          <p:cNvPr id="16" name="Text 12"/>
          <p:cNvSpPr/>
          <p:nvPr/>
        </p:nvSpPr>
        <p:spPr>
          <a:xfrm>
            <a:off x="6318504" y="2057400"/>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4</a:t>
            </a:r>
            <a:endParaRPr lang="en-US" sz="2000"/>
          </a:p>
        </p:txBody>
      </p:sp>
      <p:sp>
        <p:nvSpPr>
          <p:cNvPr id="17" name="Text 13"/>
          <p:cNvSpPr/>
          <p:nvPr/>
        </p:nvSpPr>
        <p:spPr>
          <a:xfrm>
            <a:off x="6318504" y="2386584"/>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Quality Education</a:t>
            </a:r>
            <a:endParaRPr lang="en-US" sz="950"/>
          </a:p>
        </p:txBody>
      </p:sp>
      <p:sp>
        <p:nvSpPr>
          <p:cNvPr id="18" name="Shape 14"/>
          <p:cNvSpPr/>
          <p:nvPr/>
        </p:nvSpPr>
        <p:spPr>
          <a:xfrm>
            <a:off x="8065008" y="1965960"/>
            <a:ext cx="1792224" cy="841248"/>
          </a:xfrm>
          <a:prstGeom prst="roundRect">
            <a:avLst>
              <a:gd name="adj" fmla="val 5435"/>
            </a:avLst>
          </a:prstGeom>
          <a:solidFill>
            <a:srgbClr val="FF3A21"/>
          </a:solidFill>
          <a:ln/>
        </p:spPr>
      </p:sp>
      <p:sp>
        <p:nvSpPr>
          <p:cNvPr id="19" name="Text 15"/>
          <p:cNvSpPr/>
          <p:nvPr/>
        </p:nvSpPr>
        <p:spPr>
          <a:xfrm>
            <a:off x="8174736" y="2057400"/>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5</a:t>
            </a:r>
            <a:endParaRPr lang="en-US" sz="2000"/>
          </a:p>
        </p:txBody>
      </p:sp>
      <p:sp>
        <p:nvSpPr>
          <p:cNvPr id="20" name="Text 16"/>
          <p:cNvSpPr/>
          <p:nvPr/>
        </p:nvSpPr>
        <p:spPr>
          <a:xfrm>
            <a:off x="8174736" y="2386584"/>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Gender Equality</a:t>
            </a:r>
            <a:endParaRPr lang="en-US" sz="950"/>
          </a:p>
        </p:txBody>
      </p:sp>
      <p:sp>
        <p:nvSpPr>
          <p:cNvPr id="21" name="Shape 17"/>
          <p:cNvSpPr/>
          <p:nvPr/>
        </p:nvSpPr>
        <p:spPr>
          <a:xfrm>
            <a:off x="9921240" y="1965960"/>
            <a:ext cx="1792224" cy="841248"/>
          </a:xfrm>
          <a:prstGeom prst="roundRect">
            <a:avLst>
              <a:gd name="adj" fmla="val 5435"/>
            </a:avLst>
          </a:prstGeom>
          <a:solidFill>
            <a:srgbClr val="26BDE2"/>
          </a:solidFill>
          <a:ln/>
        </p:spPr>
      </p:sp>
      <p:sp>
        <p:nvSpPr>
          <p:cNvPr id="22" name="Text 18"/>
          <p:cNvSpPr/>
          <p:nvPr/>
        </p:nvSpPr>
        <p:spPr>
          <a:xfrm>
            <a:off x="10030968" y="2057400"/>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6</a:t>
            </a:r>
            <a:endParaRPr lang="en-US" sz="2000"/>
          </a:p>
        </p:txBody>
      </p:sp>
      <p:sp>
        <p:nvSpPr>
          <p:cNvPr id="23" name="Text 19"/>
          <p:cNvSpPr/>
          <p:nvPr/>
        </p:nvSpPr>
        <p:spPr>
          <a:xfrm>
            <a:off x="10030968" y="2386584"/>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Clean Water</a:t>
            </a:r>
            <a:endParaRPr lang="en-US" sz="950"/>
          </a:p>
        </p:txBody>
      </p:sp>
      <p:sp>
        <p:nvSpPr>
          <p:cNvPr id="24" name="Shape 20"/>
          <p:cNvSpPr/>
          <p:nvPr/>
        </p:nvSpPr>
        <p:spPr>
          <a:xfrm>
            <a:off x="640080" y="2898648"/>
            <a:ext cx="1792224" cy="841248"/>
          </a:xfrm>
          <a:prstGeom prst="roundRect">
            <a:avLst>
              <a:gd name="adj" fmla="val 5435"/>
            </a:avLst>
          </a:prstGeom>
          <a:solidFill>
            <a:srgbClr val="FCC30B"/>
          </a:solidFill>
          <a:ln/>
        </p:spPr>
      </p:sp>
      <p:sp>
        <p:nvSpPr>
          <p:cNvPr id="25" name="Text 21"/>
          <p:cNvSpPr/>
          <p:nvPr/>
        </p:nvSpPr>
        <p:spPr>
          <a:xfrm>
            <a:off x="749808" y="2990088"/>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7</a:t>
            </a:r>
            <a:endParaRPr lang="en-US" sz="2000"/>
          </a:p>
        </p:txBody>
      </p:sp>
      <p:sp>
        <p:nvSpPr>
          <p:cNvPr id="26" name="Text 22"/>
          <p:cNvSpPr/>
          <p:nvPr/>
        </p:nvSpPr>
        <p:spPr>
          <a:xfrm>
            <a:off x="749808" y="3319272"/>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Clean Energy</a:t>
            </a:r>
            <a:endParaRPr lang="en-US" sz="950"/>
          </a:p>
        </p:txBody>
      </p:sp>
      <p:sp>
        <p:nvSpPr>
          <p:cNvPr id="27" name="Shape 23"/>
          <p:cNvSpPr/>
          <p:nvPr/>
        </p:nvSpPr>
        <p:spPr>
          <a:xfrm>
            <a:off x="2496312" y="2898648"/>
            <a:ext cx="1792224" cy="841248"/>
          </a:xfrm>
          <a:prstGeom prst="roundRect">
            <a:avLst>
              <a:gd name="adj" fmla="val 5435"/>
            </a:avLst>
          </a:prstGeom>
          <a:solidFill>
            <a:srgbClr val="A21942"/>
          </a:solidFill>
          <a:ln/>
        </p:spPr>
      </p:sp>
      <p:sp>
        <p:nvSpPr>
          <p:cNvPr id="28" name="Text 24"/>
          <p:cNvSpPr/>
          <p:nvPr/>
        </p:nvSpPr>
        <p:spPr>
          <a:xfrm>
            <a:off x="2606040" y="2990088"/>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8</a:t>
            </a:r>
            <a:endParaRPr lang="en-US" sz="2000"/>
          </a:p>
        </p:txBody>
      </p:sp>
      <p:sp>
        <p:nvSpPr>
          <p:cNvPr id="29" name="Text 25"/>
          <p:cNvSpPr/>
          <p:nvPr/>
        </p:nvSpPr>
        <p:spPr>
          <a:xfrm>
            <a:off x="2606040" y="3319272"/>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Decent Work</a:t>
            </a:r>
            <a:endParaRPr lang="en-US" sz="950"/>
          </a:p>
        </p:txBody>
      </p:sp>
      <p:sp>
        <p:nvSpPr>
          <p:cNvPr id="30" name="Shape 26"/>
          <p:cNvSpPr/>
          <p:nvPr/>
        </p:nvSpPr>
        <p:spPr>
          <a:xfrm>
            <a:off x="4352544" y="2898648"/>
            <a:ext cx="1792224" cy="841248"/>
          </a:xfrm>
          <a:prstGeom prst="roundRect">
            <a:avLst>
              <a:gd name="adj" fmla="val 5435"/>
            </a:avLst>
          </a:prstGeom>
          <a:solidFill>
            <a:srgbClr val="FD6925"/>
          </a:solidFill>
          <a:ln/>
        </p:spPr>
      </p:sp>
      <p:sp>
        <p:nvSpPr>
          <p:cNvPr id="31" name="Text 27"/>
          <p:cNvSpPr/>
          <p:nvPr/>
        </p:nvSpPr>
        <p:spPr>
          <a:xfrm>
            <a:off x="4462272" y="2990088"/>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9</a:t>
            </a:r>
            <a:endParaRPr lang="en-US" sz="2000"/>
          </a:p>
        </p:txBody>
      </p:sp>
      <p:sp>
        <p:nvSpPr>
          <p:cNvPr id="32" name="Text 28"/>
          <p:cNvSpPr/>
          <p:nvPr/>
        </p:nvSpPr>
        <p:spPr>
          <a:xfrm>
            <a:off x="4462272" y="3319272"/>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Industry &amp; Innovation</a:t>
            </a:r>
            <a:endParaRPr lang="en-US" sz="950"/>
          </a:p>
        </p:txBody>
      </p:sp>
      <p:sp>
        <p:nvSpPr>
          <p:cNvPr id="33" name="Shape 29"/>
          <p:cNvSpPr/>
          <p:nvPr/>
        </p:nvSpPr>
        <p:spPr>
          <a:xfrm>
            <a:off x="6208776" y="2898648"/>
            <a:ext cx="1792224" cy="841248"/>
          </a:xfrm>
          <a:prstGeom prst="roundRect">
            <a:avLst>
              <a:gd name="adj" fmla="val 5435"/>
            </a:avLst>
          </a:prstGeom>
          <a:solidFill>
            <a:srgbClr val="DD1367"/>
          </a:solidFill>
          <a:ln/>
        </p:spPr>
      </p:sp>
      <p:sp>
        <p:nvSpPr>
          <p:cNvPr id="34" name="Text 30"/>
          <p:cNvSpPr/>
          <p:nvPr/>
        </p:nvSpPr>
        <p:spPr>
          <a:xfrm>
            <a:off x="6318504" y="2990088"/>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10</a:t>
            </a:r>
            <a:endParaRPr lang="en-US" sz="2000"/>
          </a:p>
        </p:txBody>
      </p:sp>
      <p:sp>
        <p:nvSpPr>
          <p:cNvPr id="35" name="Text 31"/>
          <p:cNvSpPr/>
          <p:nvPr/>
        </p:nvSpPr>
        <p:spPr>
          <a:xfrm>
            <a:off x="6318504" y="3319272"/>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Reduced Inequalities</a:t>
            </a:r>
            <a:endParaRPr lang="en-US" sz="950"/>
          </a:p>
        </p:txBody>
      </p:sp>
      <p:sp>
        <p:nvSpPr>
          <p:cNvPr id="36" name="Shape 32"/>
          <p:cNvSpPr/>
          <p:nvPr/>
        </p:nvSpPr>
        <p:spPr>
          <a:xfrm>
            <a:off x="8065008" y="2898648"/>
            <a:ext cx="1792224" cy="841248"/>
          </a:xfrm>
          <a:prstGeom prst="roundRect">
            <a:avLst>
              <a:gd name="adj" fmla="val 5435"/>
            </a:avLst>
          </a:prstGeom>
          <a:solidFill>
            <a:srgbClr val="FD9D24"/>
          </a:solidFill>
          <a:ln/>
        </p:spPr>
      </p:sp>
      <p:sp>
        <p:nvSpPr>
          <p:cNvPr id="37" name="Text 33"/>
          <p:cNvSpPr/>
          <p:nvPr/>
        </p:nvSpPr>
        <p:spPr>
          <a:xfrm>
            <a:off x="8174736" y="2990088"/>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11</a:t>
            </a:r>
            <a:endParaRPr lang="en-US" sz="2000"/>
          </a:p>
        </p:txBody>
      </p:sp>
      <p:sp>
        <p:nvSpPr>
          <p:cNvPr id="38" name="Text 34"/>
          <p:cNvSpPr/>
          <p:nvPr/>
        </p:nvSpPr>
        <p:spPr>
          <a:xfrm>
            <a:off x="8174736" y="3319272"/>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Sustainable Cities</a:t>
            </a:r>
            <a:endParaRPr lang="en-US" sz="950"/>
          </a:p>
        </p:txBody>
      </p:sp>
      <p:sp>
        <p:nvSpPr>
          <p:cNvPr id="39" name="Shape 35"/>
          <p:cNvSpPr/>
          <p:nvPr/>
        </p:nvSpPr>
        <p:spPr>
          <a:xfrm>
            <a:off x="9921240" y="2898648"/>
            <a:ext cx="1792224" cy="841248"/>
          </a:xfrm>
          <a:prstGeom prst="roundRect">
            <a:avLst>
              <a:gd name="adj" fmla="val 5435"/>
            </a:avLst>
          </a:prstGeom>
          <a:solidFill>
            <a:srgbClr val="BF8B2E"/>
          </a:solidFill>
          <a:ln/>
        </p:spPr>
      </p:sp>
      <p:sp>
        <p:nvSpPr>
          <p:cNvPr id="40" name="Text 36"/>
          <p:cNvSpPr/>
          <p:nvPr/>
        </p:nvSpPr>
        <p:spPr>
          <a:xfrm>
            <a:off x="10030968" y="2990088"/>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12</a:t>
            </a:r>
            <a:endParaRPr lang="en-US" sz="2000"/>
          </a:p>
        </p:txBody>
      </p:sp>
      <p:sp>
        <p:nvSpPr>
          <p:cNvPr id="41" name="Text 37"/>
          <p:cNvSpPr/>
          <p:nvPr/>
        </p:nvSpPr>
        <p:spPr>
          <a:xfrm>
            <a:off x="10030968" y="3319272"/>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Responsible Consumption</a:t>
            </a:r>
            <a:endParaRPr lang="en-US" sz="950"/>
          </a:p>
        </p:txBody>
      </p:sp>
      <p:sp>
        <p:nvSpPr>
          <p:cNvPr id="42" name="Shape 38"/>
          <p:cNvSpPr/>
          <p:nvPr/>
        </p:nvSpPr>
        <p:spPr>
          <a:xfrm>
            <a:off x="640080" y="3831336"/>
            <a:ext cx="1792224" cy="841248"/>
          </a:xfrm>
          <a:prstGeom prst="roundRect">
            <a:avLst>
              <a:gd name="adj" fmla="val 5435"/>
            </a:avLst>
          </a:prstGeom>
          <a:solidFill>
            <a:srgbClr val="3F7E44"/>
          </a:solidFill>
          <a:ln/>
        </p:spPr>
      </p:sp>
      <p:sp>
        <p:nvSpPr>
          <p:cNvPr id="43" name="Text 39"/>
          <p:cNvSpPr/>
          <p:nvPr/>
        </p:nvSpPr>
        <p:spPr>
          <a:xfrm>
            <a:off x="749808" y="3922776"/>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13</a:t>
            </a:r>
            <a:endParaRPr lang="en-US" sz="2000"/>
          </a:p>
        </p:txBody>
      </p:sp>
      <p:sp>
        <p:nvSpPr>
          <p:cNvPr id="44" name="Text 40"/>
          <p:cNvSpPr/>
          <p:nvPr/>
        </p:nvSpPr>
        <p:spPr>
          <a:xfrm>
            <a:off x="749808" y="4251960"/>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Climate Action</a:t>
            </a:r>
            <a:endParaRPr lang="en-US" sz="950"/>
          </a:p>
        </p:txBody>
      </p:sp>
      <p:sp>
        <p:nvSpPr>
          <p:cNvPr id="45" name="Shape 41"/>
          <p:cNvSpPr/>
          <p:nvPr/>
        </p:nvSpPr>
        <p:spPr>
          <a:xfrm>
            <a:off x="2496312" y="3831336"/>
            <a:ext cx="1792224" cy="841248"/>
          </a:xfrm>
          <a:prstGeom prst="roundRect">
            <a:avLst>
              <a:gd name="adj" fmla="val 5435"/>
            </a:avLst>
          </a:prstGeom>
          <a:solidFill>
            <a:srgbClr val="0A97D9"/>
          </a:solidFill>
          <a:ln/>
        </p:spPr>
      </p:sp>
      <p:sp>
        <p:nvSpPr>
          <p:cNvPr id="46" name="Text 42"/>
          <p:cNvSpPr/>
          <p:nvPr/>
        </p:nvSpPr>
        <p:spPr>
          <a:xfrm>
            <a:off x="2606040" y="3922776"/>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14</a:t>
            </a:r>
            <a:endParaRPr lang="en-US" sz="2000"/>
          </a:p>
        </p:txBody>
      </p:sp>
      <p:sp>
        <p:nvSpPr>
          <p:cNvPr id="47" name="Text 43"/>
          <p:cNvSpPr/>
          <p:nvPr/>
        </p:nvSpPr>
        <p:spPr>
          <a:xfrm>
            <a:off x="2606040" y="4251960"/>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Life Below Water</a:t>
            </a:r>
            <a:endParaRPr lang="en-US" sz="950"/>
          </a:p>
        </p:txBody>
      </p:sp>
      <p:sp>
        <p:nvSpPr>
          <p:cNvPr id="48" name="Shape 44"/>
          <p:cNvSpPr/>
          <p:nvPr/>
        </p:nvSpPr>
        <p:spPr>
          <a:xfrm>
            <a:off x="4352544" y="3831336"/>
            <a:ext cx="1792224" cy="841248"/>
          </a:xfrm>
          <a:prstGeom prst="roundRect">
            <a:avLst>
              <a:gd name="adj" fmla="val 5435"/>
            </a:avLst>
          </a:prstGeom>
          <a:solidFill>
            <a:srgbClr val="56C02B"/>
          </a:solidFill>
          <a:ln/>
        </p:spPr>
      </p:sp>
      <p:sp>
        <p:nvSpPr>
          <p:cNvPr id="49" name="Text 45"/>
          <p:cNvSpPr/>
          <p:nvPr/>
        </p:nvSpPr>
        <p:spPr>
          <a:xfrm>
            <a:off x="4462272" y="3922776"/>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15</a:t>
            </a:r>
            <a:endParaRPr lang="en-US" sz="2000"/>
          </a:p>
        </p:txBody>
      </p:sp>
      <p:sp>
        <p:nvSpPr>
          <p:cNvPr id="50" name="Text 46"/>
          <p:cNvSpPr/>
          <p:nvPr/>
        </p:nvSpPr>
        <p:spPr>
          <a:xfrm>
            <a:off x="4462272" y="4251960"/>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Life on Land</a:t>
            </a:r>
            <a:endParaRPr lang="en-US" sz="950"/>
          </a:p>
        </p:txBody>
      </p:sp>
      <p:sp>
        <p:nvSpPr>
          <p:cNvPr id="51" name="Shape 47"/>
          <p:cNvSpPr/>
          <p:nvPr/>
        </p:nvSpPr>
        <p:spPr>
          <a:xfrm>
            <a:off x="6208776" y="3831336"/>
            <a:ext cx="1792224" cy="841248"/>
          </a:xfrm>
          <a:prstGeom prst="roundRect">
            <a:avLst>
              <a:gd name="adj" fmla="val 5435"/>
            </a:avLst>
          </a:prstGeom>
          <a:solidFill>
            <a:srgbClr val="00689D"/>
          </a:solidFill>
          <a:ln/>
        </p:spPr>
      </p:sp>
      <p:sp>
        <p:nvSpPr>
          <p:cNvPr id="52" name="Text 48"/>
          <p:cNvSpPr/>
          <p:nvPr/>
        </p:nvSpPr>
        <p:spPr>
          <a:xfrm>
            <a:off x="6318504" y="3922776"/>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16</a:t>
            </a:r>
            <a:endParaRPr lang="en-US" sz="2000"/>
          </a:p>
        </p:txBody>
      </p:sp>
      <p:sp>
        <p:nvSpPr>
          <p:cNvPr id="53" name="Text 49"/>
          <p:cNvSpPr/>
          <p:nvPr/>
        </p:nvSpPr>
        <p:spPr>
          <a:xfrm>
            <a:off x="6318504" y="4251960"/>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Peace &amp; Justice</a:t>
            </a:r>
            <a:endParaRPr lang="en-US" sz="950"/>
          </a:p>
        </p:txBody>
      </p:sp>
      <p:sp>
        <p:nvSpPr>
          <p:cNvPr id="54" name="Shape 50"/>
          <p:cNvSpPr/>
          <p:nvPr/>
        </p:nvSpPr>
        <p:spPr>
          <a:xfrm>
            <a:off x="8065008" y="3831336"/>
            <a:ext cx="1792224" cy="841248"/>
          </a:xfrm>
          <a:prstGeom prst="roundRect">
            <a:avLst>
              <a:gd name="adj" fmla="val 5435"/>
            </a:avLst>
          </a:prstGeom>
          <a:solidFill>
            <a:srgbClr val="19486A"/>
          </a:solidFill>
          <a:ln/>
        </p:spPr>
      </p:sp>
      <p:sp>
        <p:nvSpPr>
          <p:cNvPr id="55" name="Text 51"/>
          <p:cNvSpPr/>
          <p:nvPr/>
        </p:nvSpPr>
        <p:spPr>
          <a:xfrm>
            <a:off x="8174736" y="3922776"/>
            <a:ext cx="6400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17</a:t>
            </a:r>
            <a:endParaRPr lang="en-US" sz="2000"/>
          </a:p>
        </p:txBody>
      </p:sp>
      <p:sp>
        <p:nvSpPr>
          <p:cNvPr id="56" name="Text 52"/>
          <p:cNvSpPr/>
          <p:nvPr/>
        </p:nvSpPr>
        <p:spPr>
          <a:xfrm>
            <a:off x="8174736" y="4251960"/>
            <a:ext cx="1572768" cy="365760"/>
          </a:xfrm>
          <a:prstGeom prst="rect">
            <a:avLst/>
          </a:prstGeom>
          <a:noFill/>
          <a:ln/>
        </p:spPr>
        <p:txBody>
          <a:bodyPr wrap="square" lIns="0" tIns="0" rIns="0" bIns="0" rtlCol="0" anchor="t"/>
          <a:lstStyle/>
          <a:p>
            <a:pPr marL="0" indent="0">
              <a:lnSpc>
                <a:spcPct val="92000"/>
              </a:lnSpc>
              <a:buNone/>
            </a:pPr>
            <a:r>
              <a:rPr lang="en-US" sz="950" b="1">
                <a:solidFill>
                  <a:srgbClr val="FFFFFF"/>
                </a:solidFill>
                <a:latin typeface="Calibri" pitchFamily="34" charset="0"/>
                <a:ea typeface="Calibri" pitchFamily="34" charset="-122"/>
                <a:cs typeface="Calibri" pitchFamily="34" charset="-120"/>
              </a:rPr>
              <a:t>Partnerships</a:t>
            </a:r>
            <a:endParaRPr lang="en-US" sz="950"/>
          </a:p>
        </p:txBody>
      </p:sp>
      <p:sp>
        <p:nvSpPr>
          <p:cNvPr id="57" name="Shape 53"/>
          <p:cNvSpPr/>
          <p:nvPr/>
        </p:nvSpPr>
        <p:spPr>
          <a:xfrm>
            <a:off x="640080" y="4837176"/>
            <a:ext cx="10908792" cy="1078992"/>
          </a:xfrm>
          <a:prstGeom prst="roundRect">
            <a:avLst>
              <a:gd name="adj" fmla="val 8475"/>
            </a:avLst>
          </a:prstGeom>
          <a:solidFill>
            <a:srgbClr val="FFF6DD"/>
          </a:solidFill>
          <a:ln w="12700">
            <a:solidFill>
              <a:srgbClr val="F2D98A"/>
            </a:solidFill>
            <a:prstDash val="solid"/>
          </a:ln>
          <a:effectLst>
            <a:outerShdw blurRad="88900" dist="38100" dir="5400000" algn="bl" rotWithShape="0">
              <a:srgbClr val="071A45">
                <a:alpha val="12000"/>
              </a:srgbClr>
            </a:outerShdw>
          </a:effectLst>
        </p:spPr>
      </p:sp>
      <p:pic>
        <p:nvPicPr>
          <p:cNvPr id="58" name="Image 2" descr="preencoded.png"/>
          <p:cNvPicPr>
            <a:picLocks noChangeAspect="1"/>
          </p:cNvPicPr>
          <p:nvPr/>
        </p:nvPicPr>
        <p:blipFill>
          <a:blip r:embed="rId4"/>
          <a:stretch>
            <a:fillRect/>
          </a:stretch>
        </p:blipFill>
        <p:spPr>
          <a:xfrm>
            <a:off x="914400" y="5020056"/>
            <a:ext cx="411480" cy="411480"/>
          </a:xfrm>
          <a:prstGeom prst="rect">
            <a:avLst/>
          </a:prstGeom>
        </p:spPr>
      </p:pic>
      <p:sp>
        <p:nvSpPr>
          <p:cNvPr id="59" name="Text 54"/>
          <p:cNvSpPr/>
          <p:nvPr/>
        </p:nvSpPr>
        <p:spPr>
          <a:xfrm>
            <a:off x="1463040" y="5001768"/>
            <a:ext cx="9875520" cy="749808"/>
          </a:xfrm>
          <a:prstGeom prst="rect">
            <a:avLst/>
          </a:prstGeom>
          <a:noFill/>
          <a:ln/>
        </p:spPr>
        <p:txBody>
          <a:bodyPr wrap="square" lIns="0" tIns="0" rIns="0" bIns="0" rtlCol="0" anchor="ctr"/>
          <a:lstStyle/>
          <a:p>
            <a:pPr marL="0" indent="0">
              <a:lnSpc>
                <a:spcPct val="105000"/>
              </a:lnSpc>
              <a:buNone/>
            </a:pPr>
            <a:r>
              <a:rPr lang="en-US" sz="1450">
                <a:solidFill>
                  <a:srgbClr val="5A4A1E"/>
                </a:solidFill>
                <a:latin typeface="Calibri" pitchFamily="34" charset="0"/>
                <a:ea typeface="Calibri" pitchFamily="34" charset="-122"/>
                <a:cs typeface="Calibri" pitchFamily="34" charset="-120"/>
              </a:rPr>
              <a:t>Our problem maps to  </a:t>
            </a:r>
            <a:r>
              <a:rPr lang="en-US" sz="1450" b="1">
                <a:solidFill>
                  <a:srgbClr val="B5891E"/>
                </a:solidFill>
                <a:latin typeface="Calibri" pitchFamily="34" charset="0"/>
                <a:ea typeface="Calibri" pitchFamily="34" charset="-122"/>
                <a:cs typeface="Calibri" pitchFamily="34" charset="-120"/>
              </a:rPr>
              <a:t>SDG [ 3 Good Health,8 Decent Work,9 Industry &amp; Innovation,10 Reduced Inequalities ]</a:t>
            </a:r>
            <a:r>
              <a:rPr lang="en-US" sz="1450">
                <a:solidFill>
                  <a:srgbClr val="5A4A1E"/>
                </a:solidFill>
                <a:latin typeface="Calibri" pitchFamily="34" charset="0"/>
                <a:ea typeface="Calibri" pitchFamily="34" charset="-122"/>
                <a:cs typeface="Calibri" pitchFamily="34" charset="-120"/>
              </a:rPr>
              <a:t>   because   </a:t>
            </a:r>
            <a:r>
              <a:rPr lang="en-US" sz="1450" i="1">
                <a:solidFill>
                  <a:srgbClr val="9A7A33"/>
                </a:solidFill>
                <a:latin typeface="Calibri" pitchFamily="34" charset="0"/>
                <a:ea typeface="Calibri" pitchFamily="34" charset="-122"/>
                <a:cs typeface="Calibri" pitchFamily="34" charset="-120"/>
              </a:rPr>
              <a:t>the illness of patients affect their day-to-day life, their financial condition  make the medical visit difficult .</a:t>
            </a:r>
            <a:endParaRPr lang="en-US" sz="1450"/>
          </a:p>
        </p:txBody>
      </p:sp>
      <p:sp>
        <p:nvSpPr>
          <p:cNvPr id="60" name="Text 55"/>
          <p:cNvSpPr/>
          <p:nvPr/>
        </p:nvSpPr>
        <p:spPr>
          <a:xfrm>
            <a:off x="502920" y="6455664"/>
            <a:ext cx="8229600" cy="274320"/>
          </a:xfrm>
          <a:prstGeom prst="rect">
            <a:avLst/>
          </a:prstGeom>
          <a:noFill/>
          <a:ln/>
        </p:spPr>
        <p:txBody>
          <a:bodyPr wrap="square" lIns="0" tIns="0" rIns="0" bIns="0" rtlCol="0" anchor="ctr"/>
          <a:lstStyle/>
          <a:p>
            <a:pPr marL="0" indent="0">
              <a:buNone/>
            </a:pPr>
            <a:r>
              <a:rPr lang="en-US" sz="900">
                <a:solidFill>
                  <a:srgbClr val="AAB2C5"/>
                </a:solidFill>
                <a:latin typeface="Calibri" pitchFamily="34" charset="0"/>
                <a:ea typeface="Calibri" pitchFamily="34" charset="-122"/>
                <a:cs typeface="Calibri" pitchFamily="34" charset="-120"/>
              </a:rPr>
              <a:t>Sri Eshwar College of Engineering  ·  Design Thinking &amp; Innovation</a:t>
            </a:r>
            <a:endParaRPr lang="en-US" sz="900"/>
          </a:p>
        </p:txBody>
      </p:sp>
      <p:pic>
        <p:nvPicPr>
          <p:cNvPr id="62" name="Picture 61">
            <a:extLst>
              <a:ext uri="{FF2B5EF4-FFF2-40B4-BE49-F238E27FC236}">
                <a16:creationId xmlns:a16="http://schemas.microsoft.com/office/drawing/2014/main" id="{BEAA63C2-6876-CE01-BEB4-C34D0C0F3E97}"/>
              </a:ext>
            </a:extLst>
          </p:cNvPr>
          <p:cNvPicPr>
            <a:picLocks noChangeAspect="1"/>
          </p:cNvPicPr>
          <p:nvPr/>
        </p:nvPicPr>
        <p:blipFill>
          <a:blip r:embed="rId5"/>
          <a:stretch>
            <a:fillRect/>
          </a:stretch>
        </p:blipFill>
        <p:spPr>
          <a:xfrm>
            <a:off x="10363654" y="371776"/>
            <a:ext cx="1325426" cy="6035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A45"/>
        </a:solidFill>
        <a:effectLst/>
      </p:bgPr>
    </p:bg>
    <p:spTree>
      <p:nvGrpSpPr>
        <p:cNvPr id="1" name=""/>
        <p:cNvGrpSpPr/>
        <p:nvPr/>
      </p:nvGrpSpPr>
      <p:grpSpPr>
        <a:xfrm>
          <a:off x="0" y="0"/>
          <a:ext cx="0" cy="0"/>
          <a:chOff x="0" y="0"/>
          <a:chExt cx="0" cy="0"/>
        </a:xfrm>
      </p:grpSpPr>
      <p:sp>
        <p:nvSpPr>
          <p:cNvPr id="2" name="Shape 0"/>
          <p:cNvSpPr/>
          <p:nvPr/>
        </p:nvSpPr>
        <p:spPr>
          <a:xfrm>
            <a:off x="8229600" y="-2194560"/>
            <a:ext cx="6583680" cy="6583680"/>
          </a:xfrm>
          <a:prstGeom prst="ellipse">
            <a:avLst/>
          </a:prstGeom>
          <a:solidFill>
            <a:srgbClr val="0D2F7A">
              <a:alpha val="50000"/>
            </a:srgbClr>
          </a:solidFill>
          <a:ln/>
        </p:spPr>
      </p:sp>
      <p:sp>
        <p:nvSpPr>
          <p:cNvPr id="3" name="Shape 1"/>
          <p:cNvSpPr/>
          <p:nvPr/>
        </p:nvSpPr>
        <p:spPr>
          <a:xfrm>
            <a:off x="-2377440" y="3474720"/>
            <a:ext cx="5852160" cy="5852160"/>
          </a:xfrm>
          <a:prstGeom prst="ellipse">
            <a:avLst/>
          </a:prstGeom>
          <a:solidFill>
            <a:srgbClr val="0D2F7A">
              <a:alpha val="42000"/>
            </a:srgbClr>
          </a:solidFill>
          <a:ln/>
        </p:spPr>
      </p:sp>
      <p:sp>
        <p:nvSpPr>
          <p:cNvPr id="4" name="Text 2"/>
          <p:cNvSpPr/>
          <p:nvPr/>
        </p:nvSpPr>
        <p:spPr>
          <a:xfrm>
            <a:off x="457200" y="2148840"/>
            <a:ext cx="11274552" cy="1280160"/>
          </a:xfrm>
          <a:prstGeom prst="rect">
            <a:avLst/>
          </a:prstGeom>
          <a:noFill/>
          <a:ln/>
        </p:spPr>
        <p:txBody>
          <a:bodyPr wrap="square" lIns="0" tIns="0" rIns="0" bIns="0" rtlCol="0" anchor="ctr"/>
          <a:lstStyle/>
          <a:p>
            <a:pPr marL="0" indent="0" algn="ctr">
              <a:buNone/>
            </a:pPr>
            <a:r>
              <a:rPr lang="en-US" sz="7200" b="1">
                <a:solidFill>
                  <a:srgbClr val="FFC01E"/>
                </a:solidFill>
                <a:latin typeface="Calibri" pitchFamily="34" charset="0"/>
                <a:ea typeface="Calibri" pitchFamily="34" charset="-122"/>
                <a:cs typeface="Calibri" pitchFamily="34" charset="-120"/>
              </a:rPr>
              <a:t>Thank You!</a:t>
            </a:r>
            <a:endParaRPr lang="en-US" sz="7200"/>
          </a:p>
        </p:txBody>
      </p:sp>
      <p:sp>
        <p:nvSpPr>
          <p:cNvPr id="5" name="Text 3"/>
          <p:cNvSpPr/>
          <p:nvPr/>
        </p:nvSpPr>
        <p:spPr>
          <a:xfrm>
            <a:off x="457200" y="3520440"/>
            <a:ext cx="11274552" cy="457200"/>
          </a:xfrm>
          <a:prstGeom prst="rect">
            <a:avLst/>
          </a:prstGeom>
          <a:noFill/>
          <a:ln/>
        </p:spPr>
        <p:txBody>
          <a:bodyPr wrap="square" lIns="0" tIns="0" rIns="0" bIns="0" rtlCol="0" anchor="ctr"/>
          <a:lstStyle/>
          <a:p>
            <a:pPr marL="0" indent="0" algn="ctr">
              <a:buNone/>
            </a:pPr>
            <a:r>
              <a:rPr lang="en-US" sz="2100" kern="0" spc="50">
                <a:solidFill>
                  <a:srgbClr val="FFFFFF"/>
                </a:solidFill>
                <a:latin typeface="Calibri" pitchFamily="34" charset="0"/>
                <a:ea typeface="Calibri" pitchFamily="34" charset="-122"/>
                <a:cs typeface="Calibri" pitchFamily="34" charset="-120"/>
              </a:rPr>
              <a:t>Questions, feedback &amp; ideas are always welcome.</a:t>
            </a:r>
            <a:endParaRPr lang="en-US" sz="2100"/>
          </a:p>
        </p:txBody>
      </p:sp>
      <p:sp>
        <p:nvSpPr>
          <p:cNvPr id="6" name="Text 4"/>
          <p:cNvSpPr/>
          <p:nvPr/>
        </p:nvSpPr>
        <p:spPr>
          <a:xfrm>
            <a:off x="457200" y="4800600"/>
            <a:ext cx="11274552" cy="384048"/>
          </a:xfrm>
          <a:prstGeom prst="rect">
            <a:avLst/>
          </a:prstGeom>
          <a:noFill/>
          <a:ln/>
        </p:spPr>
        <p:txBody>
          <a:bodyPr wrap="square" lIns="0" tIns="0" rIns="0" bIns="0" rtlCol="0" anchor="ctr"/>
          <a:lstStyle/>
          <a:p>
            <a:pPr marL="0" indent="0" algn="ctr">
              <a:buNone/>
            </a:pPr>
            <a:r>
              <a:rPr lang="en-US" sz="1800" b="1">
                <a:solidFill>
                  <a:srgbClr val="FFCE4D"/>
                </a:solidFill>
                <a:latin typeface="Calibri" pitchFamily="34" charset="0"/>
                <a:ea typeface="Calibri" pitchFamily="34" charset="-122"/>
                <a:cs typeface="Calibri" pitchFamily="34" charset="-120"/>
              </a:rPr>
              <a:t>Sri Eshwar College of Engineering</a:t>
            </a:r>
            <a:endParaRPr lang="en-US" sz="1800"/>
          </a:p>
        </p:txBody>
      </p:sp>
      <p:sp>
        <p:nvSpPr>
          <p:cNvPr id="7" name="Text 5"/>
          <p:cNvSpPr/>
          <p:nvPr/>
        </p:nvSpPr>
        <p:spPr>
          <a:xfrm>
            <a:off x="457200" y="5212080"/>
            <a:ext cx="11274552" cy="320040"/>
          </a:xfrm>
          <a:prstGeom prst="rect">
            <a:avLst/>
          </a:prstGeom>
          <a:noFill/>
          <a:ln/>
        </p:spPr>
        <p:txBody>
          <a:bodyPr wrap="square" lIns="0" tIns="0" rIns="0" bIns="0" rtlCol="0" anchor="ctr"/>
          <a:lstStyle/>
          <a:p>
            <a:pPr marL="0" indent="0" algn="ctr">
              <a:buNone/>
            </a:pPr>
            <a:r>
              <a:rPr lang="en-US" sz="1300" kern="0" spc="100">
                <a:solidFill>
                  <a:srgbClr val="C3CDE8"/>
                </a:solidFill>
                <a:latin typeface="Calibri" pitchFamily="34" charset="0"/>
                <a:ea typeface="Calibri" pitchFamily="34" charset="-122"/>
                <a:cs typeface="Calibri" pitchFamily="34" charset="-120"/>
              </a:rPr>
              <a:t>Sri Eshwar Innovation Studio ·  Coimbatore | Tamilnadu</a:t>
            </a:r>
            <a:endParaRPr lang="en-US" sz="13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Empathy Mapping — Student Presentation Template</dc:title>
  <dc:subject>PptxGenJS Presentation</dc:subject>
  <dc:creator>Sri Eshwar Innovation Studio</dc:creator>
  <cp:revision>4</cp:revision>
  <dcterms:created xsi:type="dcterms:W3CDTF">2026-06-20T12:55:14Z</dcterms:created>
  <dcterms:modified xsi:type="dcterms:W3CDTF">2026-07-13T09:53:36Z</dcterms:modified>
</cp:coreProperties>
</file>